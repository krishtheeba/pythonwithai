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5"/>
  </p:notesMasterIdLst>
  <p:sldIdLst>
    <p:sldId id="256" r:id="rId3"/>
    <p:sldId id="257" r:id="rId4"/>
    <p:sldId id="381" r:id="rId5"/>
    <p:sldId id="517" r:id="rId6"/>
    <p:sldId id="264" r:id="rId7"/>
    <p:sldId id="258" r:id="rId8"/>
    <p:sldId id="259" r:id="rId9"/>
    <p:sldId id="260" r:id="rId10"/>
    <p:sldId id="382" r:id="rId11"/>
    <p:sldId id="383" r:id="rId12"/>
    <p:sldId id="384" r:id="rId13"/>
    <p:sldId id="385" r:id="rId14"/>
    <p:sldId id="386" r:id="rId15"/>
    <p:sldId id="387" r:id="rId16"/>
    <p:sldId id="388" r:id="rId17"/>
    <p:sldId id="389" r:id="rId18"/>
    <p:sldId id="263" r:id="rId19"/>
    <p:sldId id="293" r:id="rId20"/>
    <p:sldId id="394" r:id="rId21"/>
    <p:sldId id="299" r:id="rId22"/>
    <p:sldId id="532" r:id="rId23"/>
    <p:sldId id="533" r:id="rId24"/>
    <p:sldId id="534" r:id="rId25"/>
    <p:sldId id="518" r:id="rId26"/>
    <p:sldId id="298" r:id="rId27"/>
    <p:sldId id="300" r:id="rId28"/>
    <p:sldId id="538" r:id="rId29"/>
    <p:sldId id="539" r:id="rId30"/>
    <p:sldId id="395" r:id="rId31"/>
    <p:sldId id="396" r:id="rId32"/>
    <p:sldId id="397" r:id="rId33"/>
    <p:sldId id="398" r:id="rId34"/>
    <p:sldId id="535" r:id="rId35"/>
    <p:sldId id="399" r:id="rId36"/>
    <p:sldId id="400" r:id="rId37"/>
    <p:sldId id="401" r:id="rId38"/>
    <p:sldId id="536" r:id="rId39"/>
    <p:sldId id="537" r:id="rId40"/>
    <p:sldId id="402" r:id="rId41"/>
    <p:sldId id="403" r:id="rId42"/>
    <p:sldId id="540" r:id="rId43"/>
    <p:sldId id="404" r:id="rId44"/>
    <p:sldId id="405" r:id="rId45"/>
    <p:sldId id="406" r:id="rId46"/>
    <p:sldId id="407" r:id="rId47"/>
    <p:sldId id="408" r:id="rId48"/>
    <p:sldId id="409" r:id="rId49"/>
    <p:sldId id="410" r:id="rId50"/>
    <p:sldId id="411" r:id="rId51"/>
    <p:sldId id="541" r:id="rId52"/>
    <p:sldId id="542" r:id="rId53"/>
    <p:sldId id="519" r:id="rId54"/>
    <p:sldId id="306" r:id="rId55"/>
    <p:sldId id="307" r:id="rId56"/>
    <p:sldId id="308" r:id="rId57"/>
    <p:sldId id="543" r:id="rId58"/>
    <p:sldId id="412" r:id="rId59"/>
    <p:sldId id="413" r:id="rId60"/>
    <p:sldId id="544" r:id="rId61"/>
    <p:sldId id="545" r:id="rId62"/>
    <p:sldId id="414" r:id="rId63"/>
    <p:sldId id="415" r:id="rId64"/>
    <p:sldId id="416" r:id="rId65"/>
    <p:sldId id="546" r:id="rId66"/>
    <p:sldId id="274" r:id="rId67"/>
    <p:sldId id="275" r:id="rId68"/>
    <p:sldId id="276" r:id="rId69"/>
    <p:sldId id="277" r:id="rId70"/>
    <p:sldId id="278" r:id="rId71"/>
    <p:sldId id="279" r:id="rId72"/>
    <p:sldId id="280" r:id="rId73"/>
    <p:sldId id="284" r:id="rId74"/>
    <p:sldId id="281" r:id="rId75"/>
    <p:sldId id="282" r:id="rId76"/>
    <p:sldId id="283" r:id="rId77"/>
    <p:sldId id="548" r:id="rId78"/>
    <p:sldId id="549" r:id="rId79"/>
    <p:sldId id="550" r:id="rId80"/>
    <p:sldId id="285" r:id="rId81"/>
    <p:sldId id="286" r:id="rId82"/>
    <p:sldId id="287" r:id="rId83"/>
    <p:sldId id="288" r:id="rId84"/>
    <p:sldId id="289" r:id="rId85"/>
    <p:sldId id="290" r:id="rId86"/>
    <p:sldId id="291" r:id="rId87"/>
    <p:sldId id="292" r:id="rId88"/>
    <p:sldId id="547" r:id="rId89"/>
    <p:sldId id="551" r:id="rId90"/>
    <p:sldId id="552" r:id="rId91"/>
    <p:sldId id="553" r:id="rId92"/>
    <p:sldId id="417" r:id="rId93"/>
    <p:sldId id="334" r:id="rId94"/>
    <p:sldId id="303" r:id="rId95"/>
    <p:sldId id="304" r:id="rId96"/>
    <p:sldId id="305" r:id="rId97"/>
    <p:sldId id="418" r:id="rId98"/>
    <p:sldId id="419" r:id="rId99"/>
    <p:sldId id="420" r:id="rId100"/>
    <p:sldId id="421" r:id="rId101"/>
    <p:sldId id="422" r:id="rId102"/>
    <p:sldId id="423" r:id="rId103"/>
    <p:sldId id="554" r:id="rId104"/>
    <p:sldId id="555" r:id="rId105"/>
    <p:sldId id="556" r:id="rId106"/>
    <p:sldId id="321" r:id="rId107"/>
    <p:sldId id="557" r:id="rId108"/>
    <p:sldId id="424" r:id="rId109"/>
    <p:sldId id="425" r:id="rId110"/>
    <p:sldId id="427" r:id="rId111"/>
    <p:sldId id="428" r:id="rId112"/>
    <p:sldId id="429" r:id="rId113"/>
    <p:sldId id="558" r:id="rId114"/>
    <p:sldId id="559" r:id="rId115"/>
    <p:sldId id="560" r:id="rId116"/>
    <p:sldId id="520" r:id="rId117"/>
    <p:sldId id="426" r:id="rId118"/>
    <p:sldId id="430" r:id="rId119"/>
    <p:sldId id="561" r:id="rId120"/>
    <p:sldId id="431" r:id="rId121"/>
    <p:sldId id="562" r:id="rId122"/>
    <p:sldId id="432" r:id="rId123"/>
    <p:sldId id="563" r:id="rId124"/>
    <p:sldId id="433" r:id="rId125"/>
    <p:sldId id="564" r:id="rId126"/>
    <p:sldId id="434" r:id="rId127"/>
    <p:sldId id="435" r:id="rId128"/>
    <p:sldId id="436" r:id="rId129"/>
    <p:sldId id="437" r:id="rId130"/>
    <p:sldId id="438" r:id="rId131"/>
    <p:sldId id="439" r:id="rId132"/>
    <p:sldId id="440" r:id="rId133"/>
    <p:sldId id="441" r:id="rId134"/>
    <p:sldId id="442" r:id="rId135"/>
    <p:sldId id="443" r:id="rId136"/>
    <p:sldId id="444" r:id="rId137"/>
    <p:sldId id="445" r:id="rId138"/>
    <p:sldId id="565" r:id="rId139"/>
    <p:sldId id="446" r:id="rId140"/>
    <p:sldId id="447" r:id="rId141"/>
    <p:sldId id="448" r:id="rId142"/>
    <p:sldId id="449" r:id="rId143"/>
    <p:sldId id="566" r:id="rId144"/>
    <p:sldId id="521" r:id="rId145"/>
    <p:sldId id="450" r:id="rId146"/>
    <p:sldId id="451" r:id="rId147"/>
    <p:sldId id="452" r:id="rId148"/>
    <p:sldId id="453" r:id="rId149"/>
    <p:sldId id="454" r:id="rId150"/>
    <p:sldId id="567" r:id="rId151"/>
    <p:sldId id="568" r:id="rId152"/>
    <p:sldId id="569" r:id="rId153"/>
    <p:sldId id="455" r:id="rId154"/>
    <p:sldId id="456" r:id="rId155"/>
    <p:sldId id="570" r:id="rId156"/>
    <p:sldId id="574" r:id="rId157"/>
    <p:sldId id="575" r:id="rId158"/>
    <p:sldId id="522" r:id="rId159"/>
    <p:sldId id="354" r:id="rId160"/>
    <p:sldId id="355" r:id="rId161"/>
    <p:sldId id="356" r:id="rId162"/>
    <p:sldId id="357" r:id="rId163"/>
    <p:sldId id="358" r:id="rId164"/>
    <p:sldId id="359" r:id="rId165"/>
    <p:sldId id="360" r:id="rId166"/>
    <p:sldId id="361" r:id="rId167"/>
    <p:sldId id="362" r:id="rId168"/>
    <p:sldId id="363" r:id="rId169"/>
    <p:sldId id="364" r:id="rId170"/>
    <p:sldId id="365" r:id="rId171"/>
    <p:sldId id="366" r:id="rId172"/>
    <p:sldId id="367" r:id="rId173"/>
    <p:sldId id="368" r:id="rId174"/>
    <p:sldId id="369" r:id="rId175"/>
    <p:sldId id="370" r:id="rId176"/>
    <p:sldId id="371" r:id="rId177"/>
    <p:sldId id="571" r:id="rId178"/>
    <p:sldId id="372" r:id="rId179"/>
    <p:sldId id="373" r:id="rId180"/>
    <p:sldId id="374" r:id="rId181"/>
    <p:sldId id="375" r:id="rId182"/>
    <p:sldId id="376" r:id="rId183"/>
    <p:sldId id="377" r:id="rId184"/>
    <p:sldId id="378" r:id="rId185"/>
    <p:sldId id="379" r:id="rId186"/>
    <p:sldId id="380" r:id="rId187"/>
    <p:sldId id="572" r:id="rId188"/>
    <p:sldId id="573" r:id="rId189"/>
    <p:sldId id="523" r:id="rId190"/>
    <p:sldId id="335" r:id="rId191"/>
    <p:sldId id="336" r:id="rId192"/>
    <p:sldId id="514" r:id="rId193"/>
    <p:sldId id="338" r:id="rId194"/>
    <p:sldId id="576" r:id="rId195"/>
    <p:sldId id="337" r:id="rId196"/>
    <p:sldId id="577" r:id="rId197"/>
    <p:sldId id="578" r:id="rId198"/>
    <p:sldId id="515" r:id="rId199"/>
    <p:sldId id="341" r:id="rId200"/>
    <p:sldId id="344" r:id="rId201"/>
    <p:sldId id="345" r:id="rId202"/>
    <p:sldId id="346" r:id="rId203"/>
    <p:sldId id="347" r:id="rId204"/>
    <p:sldId id="348" r:id="rId205"/>
    <p:sldId id="349" r:id="rId206"/>
    <p:sldId id="350" r:id="rId207"/>
    <p:sldId id="351" r:id="rId208"/>
    <p:sldId id="516" r:id="rId209"/>
    <p:sldId id="524" r:id="rId210"/>
    <p:sldId id="457" r:id="rId211"/>
    <p:sldId id="458" r:id="rId212"/>
    <p:sldId id="459" r:id="rId213"/>
    <p:sldId id="461" r:id="rId214"/>
    <p:sldId id="460" r:id="rId215"/>
    <p:sldId id="462" r:id="rId216"/>
    <p:sldId id="579" r:id="rId217"/>
    <p:sldId id="525" r:id="rId218"/>
    <p:sldId id="463" r:id="rId219"/>
    <p:sldId id="464" r:id="rId220"/>
    <p:sldId id="465" r:id="rId221"/>
    <p:sldId id="467" r:id="rId222"/>
    <p:sldId id="468" r:id="rId223"/>
    <p:sldId id="580" r:id="rId224"/>
    <p:sldId id="466" r:id="rId225"/>
    <p:sldId id="469" r:id="rId226"/>
    <p:sldId id="470" r:id="rId227"/>
    <p:sldId id="471" r:id="rId228"/>
    <p:sldId id="581" r:id="rId229"/>
    <p:sldId id="526" r:id="rId230"/>
    <p:sldId id="472" r:id="rId231"/>
    <p:sldId id="473" r:id="rId232"/>
    <p:sldId id="474" r:id="rId233"/>
    <p:sldId id="475" r:id="rId234"/>
    <p:sldId id="476" r:id="rId235"/>
    <p:sldId id="477" r:id="rId236"/>
    <p:sldId id="478" r:id="rId237"/>
    <p:sldId id="479" r:id="rId238"/>
    <p:sldId id="480" r:id="rId239"/>
    <p:sldId id="481" r:id="rId240"/>
    <p:sldId id="527" r:id="rId241"/>
    <p:sldId id="483" r:id="rId242"/>
    <p:sldId id="484" r:id="rId243"/>
    <p:sldId id="499" r:id="rId244"/>
    <p:sldId id="500" r:id="rId245"/>
    <p:sldId id="582" r:id="rId246"/>
    <p:sldId id="486" r:id="rId247"/>
    <p:sldId id="501" r:id="rId248"/>
    <p:sldId id="502" r:id="rId249"/>
    <p:sldId id="503" r:id="rId250"/>
    <p:sldId id="504" r:id="rId251"/>
    <p:sldId id="583" r:id="rId252"/>
    <p:sldId id="528" r:id="rId253"/>
    <p:sldId id="494" r:id="rId254"/>
    <p:sldId id="498" r:id="rId255"/>
    <p:sldId id="506" r:id="rId256"/>
    <p:sldId id="505" r:id="rId257"/>
    <p:sldId id="584" r:id="rId258"/>
    <p:sldId id="530" r:id="rId259"/>
    <p:sldId id="531" r:id="rId260"/>
    <p:sldId id="585" r:id="rId261"/>
    <p:sldId id="529" r:id="rId262"/>
    <p:sldId id="507" r:id="rId263"/>
    <p:sldId id="352" r:id="rId2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226" Type="http://schemas.openxmlformats.org/officeDocument/2006/relationships/slide" Target="slides/slide224.xml"/><Relationship Id="rId247" Type="http://schemas.openxmlformats.org/officeDocument/2006/relationships/slide" Target="slides/slide245.xml"/><Relationship Id="rId107" Type="http://schemas.openxmlformats.org/officeDocument/2006/relationships/slide" Target="slides/slide105.xml"/><Relationship Id="rId268" Type="http://schemas.openxmlformats.org/officeDocument/2006/relationships/theme" Target="theme/theme1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16" Type="http://schemas.openxmlformats.org/officeDocument/2006/relationships/slide" Target="slides/slide214.xml"/><Relationship Id="rId237" Type="http://schemas.openxmlformats.org/officeDocument/2006/relationships/slide" Target="slides/slide235.xml"/><Relationship Id="rId258" Type="http://schemas.openxmlformats.org/officeDocument/2006/relationships/slide" Target="slides/slide256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227" Type="http://schemas.openxmlformats.org/officeDocument/2006/relationships/slide" Target="slides/slide225.xml"/><Relationship Id="rId248" Type="http://schemas.openxmlformats.org/officeDocument/2006/relationships/slide" Target="slides/slide246.xml"/><Relationship Id="rId269" Type="http://schemas.openxmlformats.org/officeDocument/2006/relationships/tableStyles" Target="tableStyles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217" Type="http://schemas.openxmlformats.org/officeDocument/2006/relationships/slide" Target="slides/slide215.xml"/><Relationship Id="rId6" Type="http://schemas.openxmlformats.org/officeDocument/2006/relationships/slide" Target="slides/slide4.xml"/><Relationship Id="rId238" Type="http://schemas.openxmlformats.org/officeDocument/2006/relationships/slide" Target="slides/slide236.xml"/><Relationship Id="rId259" Type="http://schemas.openxmlformats.org/officeDocument/2006/relationships/slide" Target="slides/slide257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202" Type="http://schemas.openxmlformats.org/officeDocument/2006/relationships/slide" Target="slides/slide200.xml"/><Relationship Id="rId207" Type="http://schemas.openxmlformats.org/officeDocument/2006/relationships/slide" Target="slides/slide205.xml"/><Relationship Id="rId223" Type="http://schemas.openxmlformats.org/officeDocument/2006/relationships/slide" Target="slides/slide221.xml"/><Relationship Id="rId228" Type="http://schemas.openxmlformats.org/officeDocument/2006/relationships/slide" Target="slides/slide226.xml"/><Relationship Id="rId244" Type="http://schemas.openxmlformats.org/officeDocument/2006/relationships/slide" Target="slides/slide242.xml"/><Relationship Id="rId249" Type="http://schemas.openxmlformats.org/officeDocument/2006/relationships/slide" Target="slides/slide24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260" Type="http://schemas.openxmlformats.org/officeDocument/2006/relationships/slide" Target="slides/slide258.xml"/><Relationship Id="rId26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13" Type="http://schemas.openxmlformats.org/officeDocument/2006/relationships/slide" Target="slides/slide211.xml"/><Relationship Id="rId218" Type="http://schemas.openxmlformats.org/officeDocument/2006/relationships/slide" Target="slides/slide216.xml"/><Relationship Id="rId234" Type="http://schemas.openxmlformats.org/officeDocument/2006/relationships/slide" Target="slides/slide232.xml"/><Relationship Id="rId239" Type="http://schemas.openxmlformats.org/officeDocument/2006/relationships/slide" Target="slides/slide23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50" Type="http://schemas.openxmlformats.org/officeDocument/2006/relationships/slide" Target="slides/slide248.xml"/><Relationship Id="rId255" Type="http://schemas.openxmlformats.org/officeDocument/2006/relationships/slide" Target="slides/slide253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Relationship Id="rId208" Type="http://schemas.openxmlformats.org/officeDocument/2006/relationships/slide" Target="slides/slide206.xml"/><Relationship Id="rId229" Type="http://schemas.openxmlformats.org/officeDocument/2006/relationships/slide" Target="slides/slide227.xml"/><Relationship Id="rId19" Type="http://schemas.openxmlformats.org/officeDocument/2006/relationships/slide" Target="slides/slide17.xml"/><Relationship Id="rId224" Type="http://schemas.openxmlformats.org/officeDocument/2006/relationships/slide" Target="slides/slide222.xml"/><Relationship Id="rId240" Type="http://schemas.openxmlformats.org/officeDocument/2006/relationships/slide" Target="slides/slide238.xml"/><Relationship Id="rId245" Type="http://schemas.openxmlformats.org/officeDocument/2006/relationships/slide" Target="slides/slide243.xml"/><Relationship Id="rId261" Type="http://schemas.openxmlformats.org/officeDocument/2006/relationships/slide" Target="slides/slide259.xml"/><Relationship Id="rId266" Type="http://schemas.openxmlformats.org/officeDocument/2006/relationships/presProps" Target="presProps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189" Type="http://schemas.openxmlformats.org/officeDocument/2006/relationships/slide" Target="slides/slide187.xml"/><Relationship Id="rId219" Type="http://schemas.openxmlformats.org/officeDocument/2006/relationships/slide" Target="slides/slide217.xml"/><Relationship Id="rId3" Type="http://schemas.openxmlformats.org/officeDocument/2006/relationships/slide" Target="slides/slide1.xml"/><Relationship Id="rId214" Type="http://schemas.openxmlformats.org/officeDocument/2006/relationships/slide" Target="slides/slide212.xml"/><Relationship Id="rId230" Type="http://schemas.openxmlformats.org/officeDocument/2006/relationships/slide" Target="slides/slide228.xml"/><Relationship Id="rId235" Type="http://schemas.openxmlformats.org/officeDocument/2006/relationships/slide" Target="slides/slide233.xml"/><Relationship Id="rId251" Type="http://schemas.openxmlformats.org/officeDocument/2006/relationships/slide" Target="slides/slide249.xml"/><Relationship Id="rId256" Type="http://schemas.openxmlformats.org/officeDocument/2006/relationships/slide" Target="slides/slide254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95" Type="http://schemas.openxmlformats.org/officeDocument/2006/relationships/slide" Target="slides/slide193.xml"/><Relationship Id="rId209" Type="http://schemas.openxmlformats.org/officeDocument/2006/relationships/slide" Target="slides/slide207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220" Type="http://schemas.openxmlformats.org/officeDocument/2006/relationships/slide" Target="slides/slide218.xml"/><Relationship Id="rId225" Type="http://schemas.openxmlformats.org/officeDocument/2006/relationships/slide" Target="slides/slide223.xml"/><Relationship Id="rId241" Type="http://schemas.openxmlformats.org/officeDocument/2006/relationships/slide" Target="slides/slide239.xml"/><Relationship Id="rId246" Type="http://schemas.openxmlformats.org/officeDocument/2006/relationships/slide" Target="slides/slide244.xml"/><Relationship Id="rId267" Type="http://schemas.openxmlformats.org/officeDocument/2006/relationships/viewProps" Target="viewProp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262" Type="http://schemas.openxmlformats.org/officeDocument/2006/relationships/slide" Target="slides/slide260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slide" Target="slides/slide18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10" Type="http://schemas.openxmlformats.org/officeDocument/2006/relationships/slide" Target="slides/slide208.xml"/><Relationship Id="rId215" Type="http://schemas.openxmlformats.org/officeDocument/2006/relationships/slide" Target="slides/slide213.xml"/><Relationship Id="rId236" Type="http://schemas.openxmlformats.org/officeDocument/2006/relationships/slide" Target="slides/slide234.xml"/><Relationship Id="rId257" Type="http://schemas.openxmlformats.org/officeDocument/2006/relationships/slide" Target="slides/slide255.xml"/><Relationship Id="rId26" Type="http://schemas.openxmlformats.org/officeDocument/2006/relationships/slide" Target="slides/slide24.xml"/><Relationship Id="rId231" Type="http://schemas.openxmlformats.org/officeDocument/2006/relationships/slide" Target="slides/slide229.xml"/><Relationship Id="rId252" Type="http://schemas.openxmlformats.org/officeDocument/2006/relationships/slide" Target="slides/slide250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221" Type="http://schemas.openxmlformats.org/officeDocument/2006/relationships/slide" Target="slides/slide219.xml"/><Relationship Id="rId242" Type="http://schemas.openxmlformats.org/officeDocument/2006/relationships/slide" Target="slides/slide240.xml"/><Relationship Id="rId263" Type="http://schemas.openxmlformats.org/officeDocument/2006/relationships/slide" Target="slides/slide261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11" Type="http://schemas.openxmlformats.org/officeDocument/2006/relationships/slide" Target="slides/slide209.xml"/><Relationship Id="rId232" Type="http://schemas.openxmlformats.org/officeDocument/2006/relationships/slide" Target="slides/slide230.xml"/><Relationship Id="rId253" Type="http://schemas.openxmlformats.org/officeDocument/2006/relationships/slide" Target="slides/slide251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222" Type="http://schemas.openxmlformats.org/officeDocument/2006/relationships/slide" Target="slides/slide220.xml"/><Relationship Id="rId243" Type="http://schemas.openxmlformats.org/officeDocument/2006/relationships/slide" Target="slides/slide241.xml"/><Relationship Id="rId264" Type="http://schemas.openxmlformats.org/officeDocument/2006/relationships/slide" Target="slides/slide262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0.xml"/><Relationship Id="rId233" Type="http://schemas.openxmlformats.org/officeDocument/2006/relationships/slide" Target="slides/slide231.xml"/><Relationship Id="rId254" Type="http://schemas.openxmlformats.org/officeDocument/2006/relationships/slide" Target="slides/slide25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0003E-47C0-47C5-8F0A-F6F1DD16FD8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49A0F-A7FB-4AA3-9C64-F187676D4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5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 : 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849A0F-A7FB-4AA3-9C64-F187676D48E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593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 : 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849A0F-A7FB-4AA3-9C64-F187676D48E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593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 : 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849A0F-A7FB-4AA3-9C64-F187676D48E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593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2D388E45-1021-4AA6-BEB1-E15459E596B1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53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7331" name="Text Box 1"/>
          <p:cNvSpPr txBox="1">
            <a:spLocks noChangeArrowheads="1"/>
          </p:cNvSpPr>
          <p:nvPr/>
        </p:nvSpPr>
        <p:spPr bwMode="auto">
          <a:xfrm>
            <a:off x="1210236" y="694171"/>
            <a:ext cx="4437529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27332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A2B72E26-630E-49AA-AA6A-9444965D12A5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54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8355" name="Text Box 1"/>
          <p:cNvSpPr txBox="1">
            <a:spLocks noChangeArrowheads="1"/>
          </p:cNvSpPr>
          <p:nvPr/>
        </p:nvSpPr>
        <p:spPr bwMode="auto">
          <a:xfrm>
            <a:off x="1210236" y="694171"/>
            <a:ext cx="4437529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28356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920D8D12-C49F-4DBB-B784-7AA0B1DD31BB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55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9379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26324" cy="341745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29380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920D8D12-C49F-4DBB-B784-7AA0B1DD31BB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57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9379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26324" cy="341745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29380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920D8D12-C49F-4DBB-B784-7AA0B1DD31BB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58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9379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26324" cy="341745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29380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920D8D12-C49F-4DBB-B784-7AA0B1DD31BB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61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9379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26324" cy="341745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29380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920D8D12-C49F-4DBB-B784-7AA0B1DD31BB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62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9379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26324" cy="341745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29380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920D8D12-C49F-4DBB-B784-7AA0B1DD31BB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63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9379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26324" cy="341745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29380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0DAFEBAF-5E01-47B1-AE33-8DBD223649AE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105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85699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33328" cy="342467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85700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0DAFEBAF-5E01-47B1-AE33-8DBD223649AE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106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85699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33328" cy="342467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85700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0DAFEBAF-5E01-47B1-AE33-8DBD223649AE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107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85699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33328" cy="342467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85700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0DAFEBAF-5E01-47B1-AE33-8DBD223649AE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108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85699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33328" cy="342467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285700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849A0F-A7FB-4AA3-9C64-F187676D48EA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314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open("D:\\test.log") as FH:</a:t>
            </a:r>
          </a:p>
          <a:p>
            <a:r>
              <a:rPr lang="en-US" dirty="0"/>
              <a:t>	s=</a:t>
            </a:r>
            <a:r>
              <a:rPr lang="en-US" dirty="0" err="1"/>
              <a:t>FH.read</a:t>
            </a:r>
            <a:r>
              <a:rPr lang="en-US" dirty="0"/>
              <a:t>()</a:t>
            </a:r>
          </a:p>
          <a:p>
            <a:r>
              <a:rPr lang="en-US" dirty="0"/>
              <a:t>	print(s)</a:t>
            </a:r>
          </a:p>
          <a:p>
            <a:endParaRPr lang="en-US" dirty="0"/>
          </a:p>
          <a:p>
            <a:r>
              <a:rPr lang="en-US" dirty="0"/>
              <a:t>with open("D:\\result.log") as WH:</a:t>
            </a:r>
          </a:p>
          <a:p>
            <a:r>
              <a:rPr lang="en-US" dirty="0"/>
              <a:t>	</a:t>
            </a:r>
            <a:r>
              <a:rPr lang="en-US" dirty="0" err="1"/>
              <a:t>WH.write</a:t>
            </a:r>
            <a:r>
              <a:rPr lang="en-US" dirty="0"/>
              <a:t>("data1\n")</a:t>
            </a:r>
          </a:p>
          <a:p>
            <a:r>
              <a:rPr lang="en-US" dirty="0"/>
              <a:t>	</a:t>
            </a:r>
            <a:r>
              <a:rPr lang="en-US" dirty="0" err="1"/>
              <a:t>WH.write</a:t>
            </a:r>
            <a:r>
              <a:rPr lang="en-US" dirty="0"/>
              <a:t>("data2\n")</a:t>
            </a:r>
          </a:p>
          <a:p>
            <a:r>
              <a:rPr lang="en-US" dirty="0"/>
              <a:t>	</a:t>
            </a:r>
            <a:r>
              <a:rPr lang="en-US" dirty="0" err="1"/>
              <a:t>WH.write</a:t>
            </a:r>
            <a:r>
              <a:rPr lang="en-US" dirty="0"/>
              <a:t>("data3\n")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 open("D:\\test.log") as FH:</a:t>
            </a:r>
          </a:p>
          <a:p>
            <a:r>
              <a:rPr lang="en-US" dirty="0"/>
              <a:t>	with open("D:\\r1.log","w") as WH:</a:t>
            </a:r>
          </a:p>
          <a:p>
            <a:r>
              <a:rPr lang="en-US" dirty="0"/>
              <a:t>		for </a:t>
            </a:r>
            <a:r>
              <a:rPr lang="en-US" dirty="0" err="1"/>
              <a:t>var</a:t>
            </a:r>
            <a:r>
              <a:rPr lang="en-US" dirty="0"/>
              <a:t> in </a:t>
            </a:r>
            <a:r>
              <a:rPr lang="en-US" dirty="0" err="1"/>
              <a:t>FH.readlines</a:t>
            </a:r>
            <a:r>
              <a:rPr lang="en-US" dirty="0"/>
              <a:t>():</a:t>
            </a:r>
          </a:p>
          <a:p>
            <a:r>
              <a:rPr lang="en-US" dirty="0"/>
              <a:t>			</a:t>
            </a:r>
            <a:r>
              <a:rPr lang="en-US" dirty="0" err="1"/>
              <a:t>WH.write</a:t>
            </a:r>
            <a:r>
              <a:rPr lang="en-US" dirty="0"/>
              <a:t>(</a:t>
            </a:r>
            <a:r>
              <a:rPr lang="en-US" dirty="0" err="1"/>
              <a:t>var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849A0F-A7FB-4AA3-9C64-F187676D48EA}" type="slidenum">
              <a:rPr lang="en-US" smtClean="0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268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EB085F5A-5A96-43C3-858E-37D3A790B118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189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6659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33328" cy="342467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326660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BF8A9D02-CFE8-46AA-8C44-E963CBCC00BD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190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7683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22122" cy="34131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327684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suffix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849A0F-A7FB-4AA3-9C64-F187676D48EA}" type="slidenum">
              <a:rPr lang="en-US" smtClean="0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702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9D574034-DF97-4DFC-8F14-63B04740A2FD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192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9731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22122" cy="34131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329732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037B09C4-3E2B-4962-9757-316B3FA651C0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194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8707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22122" cy="34131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328708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037B09C4-3E2B-4962-9757-316B3FA651C0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197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8707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22122" cy="34131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328708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71885B35-D8CC-4018-804F-E5D19CFDA02D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198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32803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22122" cy="34131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332804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1pPr>
            <a:lvl2pPr marL="666723" indent="-256432"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2pPr>
            <a:lvl3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3pPr>
            <a:lvl4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4pPr>
            <a:lvl5pPr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5pPr>
            <a:lvl6pPr marL="2256602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6pPr>
            <a:lvl7pPr marL="2666893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7pPr>
            <a:lvl8pPr marL="3077185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8pPr>
            <a:lvl9pPr marL="3487476" indent="-205146" defTabSz="41029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10291" algn="l"/>
                <a:tab pos="820583" algn="l"/>
                <a:tab pos="1230874" algn="l"/>
                <a:tab pos="1641165" algn="l"/>
                <a:tab pos="2051456" algn="l"/>
                <a:tab pos="2461748" algn="l"/>
                <a:tab pos="2872039" algn="l"/>
                <a:tab pos="3282330" algn="l"/>
                <a:tab pos="3692622" algn="l"/>
                <a:tab pos="4102913" algn="l"/>
                <a:tab pos="4513204" algn="l"/>
                <a:tab pos="4923495" algn="l"/>
                <a:tab pos="5333787" algn="l"/>
                <a:tab pos="5744078" algn="l"/>
                <a:tab pos="6154369" algn="l"/>
                <a:tab pos="6564660" algn="l"/>
                <a:tab pos="6974952" algn="l"/>
                <a:tab pos="7385243" algn="l"/>
                <a:tab pos="7795534" algn="l"/>
                <a:tab pos="8205826" algn="l"/>
              </a:tabLs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buFont typeface="Times New Roman" pitchFamily="18" charset="0"/>
              <a:buNone/>
            </a:pPr>
            <a:fld id="{B32B5CF5-B392-44F2-85C0-735F93AD4766}" type="slidenum">
              <a:rPr lang="en-GB" altLang="en-US" smtClean="0">
                <a:solidFill>
                  <a:srgbClr val="000000"/>
                </a:solidFill>
                <a:latin typeface="Times New Roman" pitchFamily="18" charset="0"/>
              </a:rPr>
              <a:pPr>
                <a:buFont typeface="Times New Roman" pitchFamily="18" charset="0"/>
                <a:buNone/>
              </a:pPr>
              <a:t>199</a:t>
            </a:fld>
            <a:endParaRPr lang="en-GB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35875" name="Text Box 1"/>
          <p:cNvSpPr txBox="1">
            <a:spLocks noChangeArrowheads="1"/>
          </p:cNvSpPr>
          <p:nvPr/>
        </p:nvSpPr>
        <p:spPr bwMode="auto">
          <a:xfrm>
            <a:off x="1210235" y="694171"/>
            <a:ext cx="4420721" cy="341168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</a:defRPr>
            </a:lvl2pPr>
            <a:lvl3pPr>
              <a:defRPr>
                <a:solidFill>
                  <a:schemeClr val="bg1"/>
                </a:solidFill>
                <a:latin typeface="Arial" charset="0"/>
              </a:defRPr>
            </a:lvl3pPr>
            <a:lvl4pPr>
              <a:defRPr>
                <a:solidFill>
                  <a:schemeClr val="bg1"/>
                </a:solidFill>
                <a:latin typeface="Arial" charset="0"/>
              </a:defRPr>
            </a:lvl4pPr>
            <a:lvl5pPr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>
              <a:lnSpc>
                <a:spcPct val="35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335876" name="Rectangle 2"/>
          <p:cNvSpPr>
            <a:spLocks noGrp="1" noChangeArrowheads="1"/>
          </p:cNvSpPr>
          <p:nvPr>
            <p:ph type="body"/>
          </p:nvPr>
        </p:nvSpPr>
        <p:spPr>
          <a:xfrm>
            <a:off x="686361" y="4342535"/>
            <a:ext cx="5460066" cy="4087091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849A0F-A7FB-4AA3-9C64-F187676D48EA}" type="slidenum">
              <a:rPr lang="en-US" smtClean="0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72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077E9-B81A-4703-9B1D-BAE1E168AE5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B4087-92B8-4D73-843C-B57F8A62721C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034" y="152400"/>
            <a:ext cx="3065929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387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077E9-B81A-4703-9B1D-BAE1E168AE5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B4087-92B8-4D73-843C-B57F8A62721C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369" y="152400"/>
            <a:ext cx="176847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7925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077E9-B81A-4703-9B1D-BAE1E168AE5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B4087-92B8-4D73-843C-B57F8A62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5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077E9-B81A-4703-9B1D-BAE1E168AE5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B4087-92B8-4D73-843C-B57F8A62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85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077E9-B81A-4703-9B1D-BAE1E168AE5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B4087-92B8-4D73-843C-B57F8A62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9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077E9-B81A-4703-9B1D-BAE1E168AE5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B4087-92B8-4D73-843C-B57F8A62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11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077E9-B81A-4703-9B1D-BAE1E168AE5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B4087-92B8-4D73-843C-B57F8A62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05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077E9-B81A-4703-9B1D-BAE1E168AE5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B4087-92B8-4D73-843C-B57F8A62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16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077E9-B81A-4703-9B1D-BAE1E168AE5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B4087-92B8-4D73-843C-B57F8A62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78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077E9-B81A-4703-9B1D-BAE1E168AE5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B4087-92B8-4D73-843C-B57F8A62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5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077E9-B81A-4703-9B1D-BAE1E168AE5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B4087-92B8-4D73-843C-B57F8A62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97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47903-19F1-4A0C-BC0C-955D9BF02E0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9519-311F-41AD-B753-151F829C8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39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47903-19F1-4A0C-BC0C-955D9BF02E0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9519-311F-41AD-B753-151F829C8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06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47903-19F1-4A0C-BC0C-955D9BF02E0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9519-311F-41AD-B753-151F829C8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98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47903-19F1-4A0C-BC0C-955D9BF02E0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9519-311F-41AD-B753-151F829C8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5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47903-19F1-4A0C-BC0C-955D9BF02E0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9519-311F-41AD-B753-151F829C8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704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47903-19F1-4A0C-BC0C-955D9BF02E0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9519-311F-41AD-B753-151F829C8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80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47903-19F1-4A0C-BC0C-955D9BF02E0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9519-311F-41AD-B753-151F829C8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579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47903-19F1-4A0C-BC0C-955D9BF02E0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9519-311F-41AD-B753-151F829C8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784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47903-19F1-4A0C-BC0C-955D9BF02E0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9519-311F-41AD-B753-151F829C8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916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47903-19F1-4A0C-BC0C-955D9BF02E0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9519-311F-41AD-B753-151F829C8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008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47903-19F1-4A0C-BC0C-955D9BF02E0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09519-311F-41AD-B753-151F829C8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3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077E9-B81A-4703-9B1D-BAE1E168AE5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B4087-92B8-4D73-843C-B57F8A627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6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47903-19F1-4A0C-BC0C-955D9BF02E0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09519-311F-41AD-B753-151F829C8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6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index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hyperlink" Target="https://bootstrap.pypa.io/get-pip.py%20-o%20get-pip.py" TargetMode="External"/><Relationship Id="rId2" Type="http://schemas.openxmlformats.org/officeDocument/2006/relationships/hyperlink" Target="https://pip.pypa.io/en/stable/installing/#installing-with-get-pip-p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fedoraproject.org/wiki/EPEL" TargetMode="Externa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Python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Theeba . K</a:t>
            </a:r>
          </a:p>
        </p:txBody>
      </p:sp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3067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85800"/>
            <a:ext cx="7772400" cy="1362075"/>
          </a:xfrm>
        </p:spPr>
        <p:txBody>
          <a:bodyPr>
            <a:noAutofit/>
          </a:bodyPr>
          <a:lstStyle/>
          <a:p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Python </a:t>
            </a:r>
          </a:p>
        </p:txBody>
      </p:sp>
      <p:sp>
        <p:nvSpPr>
          <p:cNvPr id="5" name="AutoShape 4" descr="Image result for Guido van Ross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Image result for Guido van Ross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Image result for Guido van Rossum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1" descr="Image result for python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858982" cy="960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874469"/>
              </p:ext>
            </p:extLst>
          </p:nvPr>
        </p:nvGraphicFramePr>
        <p:xfrm>
          <a:off x="765175" y="2667000"/>
          <a:ext cx="7287470" cy="32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  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Day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Lesson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1 :  Introduction to Python</a:t>
                      </a:r>
                    </a:p>
                    <a:p>
                      <a:pPr lvl="1">
                        <a:lnSpc>
                          <a:spcPct val="150000"/>
                        </a:lnSpc>
                      </a:pP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Lesson 2 :  Python types  &amp; variables</a:t>
                      </a:r>
                    </a:p>
                    <a:p>
                      <a:pPr lvl="1">
                        <a:lnSpc>
                          <a:spcPct val="150000"/>
                        </a:lnSpc>
                      </a:pP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Lesson 3 :  operators </a:t>
                      </a:r>
                    </a:p>
                    <a:p>
                      <a:pPr lvl="1">
                        <a:lnSpc>
                          <a:spcPct val="150000"/>
                        </a:lnSpc>
                      </a:pP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Lesson 4 :  conditional &amp; Loop statements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</a:t>
                      </a:r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Day</a:t>
                      </a:r>
                      <a:r>
                        <a:rPr lang="en-US" sz="20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 2</a:t>
                      </a:r>
                      <a:endParaRPr 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Lesson 5 :   List ,tuple</a:t>
                      </a:r>
                    </a:p>
                    <a:p>
                      <a:pPr lvl="1">
                        <a:lnSpc>
                          <a:spcPct val="150000"/>
                        </a:lnSpc>
                      </a:pPr>
                      <a:r>
                        <a:rPr lang="en-US" sz="2000" b="1" baseline="0" dirty="0">
                          <a:latin typeface="Times New Roman" pitchFamily="18" charset="0"/>
                          <a:cs typeface="Times New Roman" pitchFamily="18" charset="0"/>
                        </a:rPr>
                        <a:t>Lesson 6 :   Dictionary &amp; set operations </a:t>
                      </a:r>
                    </a:p>
                    <a:p>
                      <a:pPr lvl="1">
                        <a:lnSpc>
                          <a:spcPct val="150000"/>
                        </a:lnSpc>
                      </a:pPr>
                      <a:r>
                        <a:rPr lang="en-US" sz="2000" b="1" baseline="0" dirty="0">
                          <a:latin typeface="Times New Roman" pitchFamily="18" charset="0"/>
                          <a:cs typeface="Times New Roman" pitchFamily="18" charset="0"/>
                        </a:rPr>
                        <a:t>Lesson 7 :   File Handling</a:t>
                      </a:r>
                      <a:endParaRPr 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218293"/>
              </p:ext>
            </p:extLst>
          </p:nvPr>
        </p:nvGraphicFramePr>
        <p:xfrm>
          <a:off x="765175" y="2057400"/>
          <a:ext cx="723582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l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   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Module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034" y="152400"/>
            <a:ext cx="3065929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793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85800"/>
            <a:ext cx="7772400" cy="1362075"/>
          </a:xfrm>
        </p:spPr>
        <p:txBody>
          <a:bodyPr>
            <a:noAutofit/>
          </a:bodyPr>
          <a:lstStyle/>
          <a:p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Python </a:t>
            </a:r>
          </a:p>
        </p:txBody>
      </p:sp>
      <p:sp>
        <p:nvSpPr>
          <p:cNvPr id="5" name="AutoShape 4" descr="Image result for Guido van Ross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Image result for Guido van Ross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Image result for Guido van Rossum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1" descr="Image result for python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858982" cy="960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600753"/>
              </p:ext>
            </p:extLst>
          </p:nvPr>
        </p:nvGraphicFramePr>
        <p:xfrm>
          <a:off x="765175" y="2057400"/>
          <a:ext cx="7616825" cy="422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3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     Day  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Lesson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8 : 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Function</a:t>
                      </a:r>
                      <a:r>
                        <a:rPr lang="en-US" sz="2000" b="1" kern="1200" baseline="0" dirty="0">
                          <a:solidFill>
                            <a:schemeClr val="lt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call and arguments, scopes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Lesson 9 : About</a:t>
                      </a:r>
                      <a:r>
                        <a:rPr lang="en-US" sz="2000" b="1" kern="1200" baseline="0" dirty="0">
                          <a:solidFill>
                            <a:schemeClr val="lt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python module and pip/pip3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     </a:t>
                      </a:r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Day</a:t>
                      </a:r>
                      <a:r>
                        <a:rPr lang="en-US" sz="20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 4</a:t>
                      </a:r>
                      <a:endParaRPr 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baseline="0" dirty="0">
                          <a:latin typeface="Times New Roman" pitchFamily="18" charset="0"/>
                          <a:cs typeface="Times New Roman" pitchFamily="18" charset="0"/>
                        </a:rPr>
                        <a:t>Lesson 10 : </a:t>
                      </a:r>
                      <a:r>
                        <a:rPr lang="en-US" sz="2000" b="1" baseline="0" dirty="0" err="1">
                          <a:latin typeface="Times New Roman" pitchFamily="18" charset="0"/>
                          <a:cs typeface="Times New Roman" pitchFamily="18" charset="0"/>
                        </a:rPr>
                        <a:t>Regx</a:t>
                      </a:r>
                      <a:r>
                        <a:rPr lang="en-US" sz="2000" b="1" baseline="0" dirty="0">
                          <a:latin typeface="Times New Roman" pitchFamily="18" charset="0"/>
                          <a:cs typeface="Times New Roman" pitchFamily="18" charset="0"/>
                        </a:rPr>
                        <a:t>, Exception Handling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baseline="0" dirty="0">
                          <a:latin typeface="Times New Roman" pitchFamily="18" charset="0"/>
                          <a:cs typeface="Times New Roman" pitchFamily="18" charset="0"/>
                        </a:rPr>
                        <a:t>Lesson 11 : List Comprehension and lambda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baseline="0" dirty="0">
                          <a:latin typeface="Times New Roman" pitchFamily="18" charset="0"/>
                          <a:cs typeface="Times New Roman" pitchFamily="18" charset="0"/>
                        </a:rPr>
                        <a:t>Lesson 12 : map, filter, reduce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baseline="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2000" b="1" baseline="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r>
                        <a:rPr lang="en-US" sz="2000" b="1" baseline="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    Day  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baseline="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Lesson 13:  Object Oriented Programming     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baseline="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                   Concepts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baseline="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Lesson 14: Python objects /methods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baseline="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Lesson 15:   Case studies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065205"/>
              </p:ext>
            </p:extLst>
          </p:nvPr>
        </p:nvGraphicFramePr>
        <p:xfrm>
          <a:off x="765175" y="1524000"/>
          <a:ext cx="754062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Session</a:t>
                      </a:r>
                      <a:endParaRPr lang="en-US" sz="27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Module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034" y="152400"/>
            <a:ext cx="3065929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1460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8956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Lesson - 1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034" y="152400"/>
            <a:ext cx="3065929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3147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375" y="468602"/>
            <a:ext cx="8229600" cy="775132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Introduction about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11" y="1219200"/>
            <a:ext cx="8229600" cy="4525963"/>
          </a:xfrm>
        </p:spPr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Python is an interpreted, high-level, general-purpose programming language.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Created by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Guido van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Rossum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and first released in 1991.</a:t>
            </a:r>
          </a:p>
          <a:p>
            <a:endParaRPr lang="en-US" dirty="0"/>
          </a:p>
        </p:txBody>
      </p:sp>
      <p:sp>
        <p:nvSpPr>
          <p:cNvPr id="5" name="AutoShape 4" descr="Image result for Guido van Ross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Image result for Guido van Rossu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Image result for Guido van Rossum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505200"/>
            <a:ext cx="2590800" cy="2754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AutoShape 11" descr="Image result for python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962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7255"/>
            <a:ext cx="8229600" cy="394132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Introduction about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2599"/>
            <a:ext cx="8229600" cy="52578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Python is an easy to learn, powerful programming language.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has efficient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high-level data structures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and a simple but effective approach to object-oriented programming.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Python interpreter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and the extensive standard library are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freely available in source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or binary form for all major platforms from the Python Web site, 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  <a:hlinkClick r:id="rId2"/>
              </a:rPr>
              <a:t>https://www.python.org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hlinkClick r:id="rId2"/>
              </a:rPr>
              <a:t>/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and may be freely distributed. </a:t>
            </a:r>
          </a:p>
        </p:txBody>
      </p:sp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954271" cy="1066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101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455" y="596298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Introduction about Python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Python interpreter is easily extended with new functions and data types implemented in C or C++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(or other languages callable from C).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Python is also suitable as an extension language for customizable applications.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658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646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Why python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Easy to Learn and Use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Interpreted Language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Cross-platform Language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Free and Open Source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Object-Oriented Language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Large Standard Library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GUI Programming Support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Dynamically  typed language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153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646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How to install python ?</a:t>
            </a: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81200"/>
            <a:ext cx="7543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76200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4165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89465" y="762000"/>
            <a:ext cx="8866717" cy="5905500"/>
            <a:chOff x="89465" y="762000"/>
            <a:chExt cx="8866717" cy="590550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465" y="762000"/>
              <a:ext cx="8866717" cy="541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00" y="6172200"/>
              <a:ext cx="2200275" cy="495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9285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4" y="-1"/>
            <a:ext cx="681622" cy="76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914401"/>
            <a:ext cx="8644128" cy="5638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2005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817947" cy="914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914401"/>
            <a:ext cx="5791200" cy="511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7836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817947" cy="914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272" y="1066800"/>
            <a:ext cx="7647128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8539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3460" cy="685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Test your python version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52401" y="1676400"/>
            <a:ext cx="8991600" cy="5181600"/>
            <a:chOff x="152401" y="1676400"/>
            <a:chExt cx="8991600" cy="5181600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1" y="1676400"/>
              <a:ext cx="8991600" cy="403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itle 4"/>
            <p:cNvSpPr txBox="1">
              <a:spLocks/>
            </p:cNvSpPr>
            <p:nvPr/>
          </p:nvSpPr>
          <p:spPr>
            <a:xfrm>
              <a:off x="152401" y="5715000"/>
              <a:ext cx="8229600" cy="1143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After completion of successful installation, </a:t>
              </a:r>
              <a:r>
                <a:rPr lang="en-US" sz="2000" b="1" dirty="0">
                  <a:latin typeface="Times New Roman" pitchFamily="18" charset="0"/>
                  <a:cs typeface="Times New Roman" pitchFamily="18" charset="0"/>
                </a:rPr>
                <a:t>open a new command line shell 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and type the above commands.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180305" y="6574839"/>
            <a:ext cx="31275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Note:  python  –V ( V uppercase char)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314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817947" cy="914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root@hostname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~]# yum  install 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python3 {Enter}</a:t>
            </a:r>
          </a:p>
          <a:p>
            <a:pPr marL="0" indent="0">
              <a:buNone/>
            </a:pP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root@hostname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~]# apt-get  install  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python3 {Enter}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98" y="3429000"/>
            <a:ext cx="69342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3583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817947" cy="914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Test your python – in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root@hostname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~]#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python  –V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python 2.7.5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root@hostname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~]#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python3  –V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python 3.7.5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root@hostname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~]#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python3 - -version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python 3.7.5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500" b="1" dirty="0">
                <a:latin typeface="Times New Roman" pitchFamily="18" charset="0"/>
                <a:cs typeface="Times New Roman" pitchFamily="18" charset="0"/>
              </a:rPr>
              <a:t>Note:  python3 –V ( V uppercase char)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6666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993" y="571501"/>
            <a:ext cx="8229600" cy="99060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How to run python program?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1. Python subshell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2. Editor(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notepad,notepad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++) or  IDEs             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Eclipse,pycharm,padre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etc.,)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33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993" y="571501"/>
            <a:ext cx="8229600" cy="990600"/>
          </a:xfrm>
        </p:spPr>
        <p:txBody>
          <a:bodyPr>
            <a:noAutofit/>
          </a:bodyPr>
          <a:lstStyle/>
          <a:p>
            <a:pPr lvl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Understanding the python program execution.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47" y="20574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C:\&gt;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filename.py 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root@hostname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~]#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filename.py</a:t>
            </a:r>
          </a:p>
          <a:p>
            <a:pPr marL="0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root@hostname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~]#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python3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filename.py                     </a:t>
            </a: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753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993" y="571501"/>
            <a:ext cx="8229600" cy="990600"/>
          </a:xfrm>
        </p:spPr>
        <p:txBody>
          <a:bodyPr>
            <a:noAutofit/>
          </a:bodyPr>
          <a:lstStyle/>
          <a:p>
            <a:pPr lvl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Python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396" y="1447800"/>
            <a:ext cx="8229600" cy="4525963"/>
          </a:xfrm>
        </p:spPr>
        <p:txBody>
          <a:bodyPr>
            <a:noAutofit/>
          </a:bodyPr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Single line comment 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Multiline comment  </a:t>
            </a:r>
          </a:p>
          <a:p>
            <a:pPr marL="400050" lvl="1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‘’’</a:t>
            </a:r>
          </a:p>
          <a:p>
            <a:pPr marL="400050" lvl="1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Multiline</a:t>
            </a:r>
          </a:p>
          <a:p>
            <a:pPr marL="400050" lvl="1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comments</a:t>
            </a:r>
          </a:p>
          <a:p>
            <a:pPr marL="400050" lvl="1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‘’’</a:t>
            </a: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179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print(); type();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print() – display message to monitor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named_variable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print(“user defined string”)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Ex: print(“Hello”)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print(10)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type() – To determine python type/class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type(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named_variable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 (or) type(value)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Ex: type(10) -&gt; &lt;class 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’&gt; 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dir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- which returns list of the attributes and methods of any object (say functions , modules, strings, lists, dictionaries etc.)</a:t>
            </a: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dir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(“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named_variable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”)  (or)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dir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(value)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Ex: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dir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(10)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5182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Q1. How to check python version?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A. python –v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B. python  - -version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C. python  –V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D. option B and C both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E.  Option B only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0222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Q2.  Is python, a case sensitive language?</a:t>
            </a:r>
          </a:p>
          <a:p>
            <a:pPr marL="0" indent="0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lphaU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Yes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No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5074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Q3.  How to check the type of a value in python?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print()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type()</a:t>
            </a:r>
          </a:p>
          <a:p>
            <a:pPr marL="514350" indent="-514350">
              <a:buAutoNum type="alphaUcPeriod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27" y="69065"/>
            <a:ext cx="1767782" cy="52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4836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28194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Lesson - 2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1147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342900"/>
            <a:ext cx="8229600" cy="1143000"/>
          </a:xfrm>
        </p:spPr>
        <p:txBody>
          <a:bodyPr>
            <a:normAutofit/>
          </a:bodyPr>
          <a:lstStyle/>
          <a:p>
            <a:pPr lvl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 types in Python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754563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Numbers 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int,float,complex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String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Bytes (bytes)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Boolean(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)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NoneType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(None)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Python containers (collections)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List   (list)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Tuple (tuple)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Dictionary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Set (set)</a:t>
            </a:r>
          </a:p>
        </p:txBody>
      </p:sp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613461" cy="685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8141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342900"/>
            <a:ext cx="8229600" cy="1143000"/>
          </a:xfrm>
        </p:spPr>
        <p:txBody>
          <a:bodyPr>
            <a:normAutofit/>
          </a:bodyPr>
          <a:lstStyle/>
          <a:p>
            <a:pPr lvl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Variable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variable – namespace – it’s holding a value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Syntax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:-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variablename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= value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=10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name=‘root’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cost=14.53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status=True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Here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, name , cost and status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variables</a:t>
            </a:r>
          </a:p>
        </p:txBody>
      </p:sp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613461" cy="685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0570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34400" cy="4754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Q1. what are declarations are invalid declarations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$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=10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5var=10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VAR=10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=10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=10 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F_name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=“”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s  name=“”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613461" cy="685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7381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34400" cy="4754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1: open an IDLE or any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editor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2: create a file p1.py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3: Within p1.py, declare variables and initialize them with value corresponding to employee details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empName,empID,empCost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4: use print() to display employee details.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613461" cy="685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3659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String(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String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– A string is a sequence of chars. – immutable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Strings can be created by enclosing characters inside a single quote or double-quotes.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Ex: ‘Welcome’   “Welcome”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Triple quotes can be used in Python but generally used to represent multiline strings and docstrings.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Ex: ‘’’Sample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Python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Test code’’’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16946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String(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s='Welcome to python'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print(type(s))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&lt;class '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(s)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# length of python string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17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Welcome to python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8619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String(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s=‘aF4^k  G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’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# it alpha,number,space,specialchars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s=‘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abcaba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’  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# string allows duplicate chars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S=‘line1\nline2\nline3’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# string can hold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escape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chars 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S=‘’’line1</a:t>
            </a:r>
          </a:p>
          <a:p>
            <a:pPr marL="0" indent="0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Line2</a:t>
            </a:r>
          </a:p>
          <a:p>
            <a:pPr marL="0" indent="0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Line3’’’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# string can hold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multiline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statement ( multiline string 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0392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String(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String Indexing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We can access individual characters using indexing and a range of characters using slicing.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S=‘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abcd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’   #  s  | a  |  b  |  c  |  d  |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   #      | 0  |   1 |  2  |  3  |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 index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String index starts  from 0 (zero)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5703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String(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How to access individual index ?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String Name [index] =&gt; Value /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IndexError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S=‘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abcd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’   #  s  | a  |  b  |  c  |  d  |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   #      | 0  |   1 |  2  |  3  |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 index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S[1]  =&gt; ’b’ 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S[5] =&gt;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IndexError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14990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String(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Trying to access a character out of index range will raise an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IndexError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index must be an integer.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We can't use floats or other types, this will result into TypeError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Python allows negative indexing for its sequences.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index of -1 refers to the last item, -2 to the second last item and so on.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S[-1]  =&gt;  ‘d’ 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                             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5822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String(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900" b="1" dirty="0">
                <a:latin typeface="Times New Roman" pitchFamily="18" charset="0"/>
                <a:cs typeface="Times New Roman" pitchFamily="18" charset="0"/>
              </a:rPr>
              <a:t>String Slicing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We can access a range of items in a string by using the slicing operator 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(colon)</a:t>
            </a:r>
          </a:p>
          <a:p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String_name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n:m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# from nth string into m-1 string</a:t>
            </a:r>
            <a:endParaRPr lang="en-US" sz="29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9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S=‘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abcdefg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’   # s | a | b | c | d | e  | f  | </a:t>
            </a:r>
          </a:p>
          <a:p>
            <a:pPr marL="0" indent="0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                             0   1  2   3   4   5</a:t>
            </a:r>
          </a:p>
          <a:p>
            <a:pPr marL="0" indent="0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S[1:4] # from 1</a:t>
            </a:r>
            <a:r>
              <a:rPr lang="en-US" sz="2900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index to 3</a:t>
            </a:r>
            <a:r>
              <a:rPr lang="en-US" sz="2900" baseline="30000" dirty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(4-1) index </a:t>
            </a:r>
          </a:p>
          <a:p>
            <a:pPr marL="0" indent="0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|__ result : ‘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bcd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’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7561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String(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2599"/>
            <a:ext cx="8229600" cy="4830763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String methods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help(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– help docs about string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document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help(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str.upper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– help docs about particular method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Object.function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 # method call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”.upper() =&gt; ‘ABC’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”.title()    =&gt; ‘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’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”.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isupper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() =&gt; False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67461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Q1.  Given a string 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S=“Sample python code”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From the given string, extract “code” and display it to the console.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Q2. Given a string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S=“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x:y:z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 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Display last 2 chars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(ii) Calculate string total length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49785" cy="838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92113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Q3. Given a String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S1=“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root:x:bin:bash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\n”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S2=“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root:x:bin:bash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\t”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S3=“root:”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Is it possible to remove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\n \t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chars from the above string? If so, How?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49785" cy="838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272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342900"/>
            <a:ext cx="8229600" cy="1143000"/>
          </a:xfrm>
        </p:spPr>
        <p:txBody>
          <a:bodyPr>
            <a:normAutofit/>
          </a:bodyPr>
          <a:lstStyle/>
          <a:p>
            <a:pPr lvl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typecasting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Changing one type to another type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a=10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type(a) -&gt;&lt;class ‘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’&gt;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convert to float  -&gt; float(a) -&gt; 10.0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convert to string -&gt;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(a) -&gt; ‘10’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Convert to boolean -&gt;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(a) -&gt;True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                        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bool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(0) -&gt;False</a:t>
            </a:r>
          </a:p>
        </p:txBody>
      </p:sp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613461" cy="685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16022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342900"/>
            <a:ext cx="8229600" cy="1143000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typecasting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Given type is float  -&gt; convert to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(10.0) -&gt; 10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Given type is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-&gt; convert to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/float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S=‘45’   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(S) -&gt;45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float(s) -&gt;45.0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V=‘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’ </a:t>
            </a:r>
          </a:p>
          <a:p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(V) -&gt;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ValueError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613461" cy="685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11209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Q1. Given:</a:t>
            </a:r>
          </a:p>
          <a:p>
            <a:pPr marL="0" indent="0">
              <a:buNone/>
            </a:pPr>
            <a:r>
              <a:rPr lang="en-US" b="1" dirty="0"/>
              <a:t>V1=100 </a:t>
            </a:r>
          </a:p>
          <a:p>
            <a:pPr marL="0" indent="0">
              <a:buNone/>
            </a:pPr>
            <a:r>
              <a:rPr lang="en-US" b="1" dirty="0"/>
              <a:t>V2=245.34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V3=‘56’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V4=0 </a:t>
            </a:r>
          </a:p>
          <a:p>
            <a:pPr marL="0" indent="0">
              <a:buNone/>
            </a:pP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) </a:t>
            </a:r>
            <a:r>
              <a:rPr lang="en-US" dirty="0"/>
              <a:t>convert  V1 to string type</a:t>
            </a:r>
          </a:p>
          <a:p>
            <a:pPr marL="0" indent="0">
              <a:buNone/>
            </a:pPr>
            <a:r>
              <a:rPr lang="en-US" b="1" dirty="0"/>
              <a:t>(ii)</a:t>
            </a:r>
            <a:r>
              <a:rPr lang="en-US" dirty="0"/>
              <a:t>convert  V2 to </a:t>
            </a:r>
            <a:r>
              <a:rPr lang="en-US" dirty="0" err="1"/>
              <a:t>int</a:t>
            </a:r>
            <a:r>
              <a:rPr lang="en-US" dirty="0"/>
              <a:t> type</a:t>
            </a:r>
          </a:p>
          <a:p>
            <a:pPr marL="0" indent="0">
              <a:buNone/>
            </a:pPr>
            <a:r>
              <a:rPr lang="en-US" b="1" dirty="0"/>
              <a:t>(iii)</a:t>
            </a:r>
            <a:r>
              <a:rPr lang="en-US" dirty="0"/>
              <a:t>convert V3 to float type</a:t>
            </a:r>
          </a:p>
          <a:p>
            <a:pPr marL="0" indent="0">
              <a:buNone/>
            </a:pPr>
            <a:r>
              <a:rPr lang="en-US" b="1" dirty="0">
                <a:sym typeface="Wingdings" pitchFamily="2" charset="2"/>
              </a:rPr>
              <a:t>(iv)</a:t>
            </a:r>
            <a:r>
              <a:rPr lang="en-US" dirty="0">
                <a:sym typeface="Wingdings" pitchFamily="2" charset="2"/>
              </a:rPr>
              <a:t>convert V4 to </a:t>
            </a:r>
            <a:r>
              <a:rPr lang="en-US" dirty="0" err="1">
                <a:sym typeface="Wingdings" pitchFamily="2" charset="2"/>
              </a:rPr>
              <a:t>boolean</a:t>
            </a:r>
            <a:r>
              <a:rPr lang="en-US" dirty="0">
                <a:sym typeface="Wingdings" pitchFamily="2" charset="2"/>
              </a:rPr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613461" cy="685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61865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Basic I/O operation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63258"/>
            <a:ext cx="204683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905000"/>
            <a:ext cx="1304277" cy="1304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091484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Left Arrow 6"/>
          <p:cNvSpPr/>
          <p:nvPr/>
        </p:nvSpPr>
        <p:spPr>
          <a:xfrm>
            <a:off x="2590800" y="2452257"/>
            <a:ext cx="1295400" cy="2355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7"/>
          <p:cNvSpPr/>
          <p:nvPr/>
        </p:nvSpPr>
        <p:spPr>
          <a:xfrm rot="10800000">
            <a:off x="5687291" y="2439374"/>
            <a:ext cx="1295400" cy="2355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819400" y="2091484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input()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400" y="2046336"/>
            <a:ext cx="791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print()</a:t>
            </a:r>
          </a:p>
        </p:txBody>
      </p:sp>
      <p:pic>
        <p:nvPicPr>
          <p:cNvPr id="14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03619" y="3800978"/>
            <a:ext cx="40062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Python  2.x  -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raw_input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Python 3.x - input()</a:t>
            </a:r>
          </a:p>
        </p:txBody>
      </p:sp>
    </p:spTree>
    <p:extLst>
      <p:ext uri="{BB962C8B-B14F-4D97-AF65-F5344CB8AC3E}">
        <p14:creationId xmlns:p14="http://schemas.microsoft.com/office/powerpoint/2010/main" val="2203309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993" y="571501"/>
            <a:ext cx="8229600" cy="99060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input()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utoShape 2" descr="Image result for keyboar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35" y="1943101"/>
            <a:ext cx="2892425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094884" y="2202873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input(“prompt message:”)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3429000" y="2320637"/>
            <a:ext cx="665884" cy="2355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60374" y="3352800"/>
            <a:ext cx="83026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input() – program can prompt the user for input.</a:t>
            </a: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All input is stored as a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08683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993" y="571501"/>
            <a:ext cx="8229600" cy="99060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input()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u="sng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Prompting for a value </a:t>
            </a:r>
          </a:p>
          <a:p>
            <a:pPr marL="0" indent="0">
              <a:buNone/>
            </a:pPr>
            <a:r>
              <a:rPr lang="en-US" sz="2800" b="1" u="sng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Syntax :-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variable=input("prompt message")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&gt;&gt;&gt; name=input("Enter your name:")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Enter your name: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Karthik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 user input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537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print()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print()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function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prints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the specified message to the monitor (STDOUT)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print(“message”)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</a:t>
            </a: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187" y="2886723"/>
            <a:ext cx="1881188" cy="188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ight Arrow 7"/>
          <p:cNvSpPr/>
          <p:nvPr/>
        </p:nvSpPr>
        <p:spPr>
          <a:xfrm>
            <a:off x="4267200" y="3293917"/>
            <a:ext cx="160843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6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name=input("Enter your name:")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Enter your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name:karthik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print(name)</a:t>
            </a:r>
          </a:p>
          <a:p>
            <a:pPr marL="0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karthik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type(name)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&lt;class '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print("Hello...{}".format(name))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Hello...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karthik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36092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N=input("Enter any two digits:")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Enter any two digits:56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print(N)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56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type(N)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&lt;class '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&gt;&gt;&gt;’56’ 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13458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Prompting for numeric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N=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input("Enter any two digits:")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Enter any two digits:56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print(N)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56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type(N)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&lt;class ‘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&gt;&gt;&gt;56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04356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Prompting for numeric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pi=float(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input("Enter  pi value:")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Enter  pi value: 3.15</a:t>
            </a:r>
          </a:p>
          <a:p>
            <a:pPr marL="0" indent="0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print(pi)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3.15</a:t>
            </a:r>
          </a:p>
          <a:p>
            <a:pPr marL="0" indent="0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type(pi)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&lt;class ‘float'&gt;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48457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Q1.  write a python program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(Modify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p1.py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file )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1: Create a new file : p2.py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2: Read the employee details from &lt;STDIN&gt;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3:Use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type()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&amp; display input types &lt;STDIN&gt;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4:Use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print()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&amp; display employee details line by line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627207" cy="701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03240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Q2. write a python program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1 : create a filename p3.py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2: Read an application name, application port number and service name from &lt;STDIN&gt;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3: Use print()  to display application details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Note : use escape chars to display application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details line by line</a:t>
            </a:r>
          </a:p>
        </p:txBody>
      </p:sp>
    </p:spTree>
    <p:extLst>
      <p:ext uri="{BB962C8B-B14F-4D97-AF65-F5344CB8AC3E}">
        <p14:creationId xmlns:p14="http://schemas.microsoft.com/office/powerpoint/2010/main" val="5417341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591993" y="27432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Lesson - 3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152400"/>
            <a:ext cx="1066800" cy="104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86565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dirty="0">
                <a:latin typeface="Times New Roman" pitchFamily="18" charset="0"/>
                <a:cs typeface="Times New Roman" pitchFamily="18" charset="0"/>
              </a:rPr>
              <a:t>Operators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+ addition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- subtraction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/ 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// ( </a:t>
            </a:r>
            <a:r>
              <a:rPr lang="en-GB" altLang="en-US" sz="2000" dirty="0">
                <a:latin typeface="Times New Roman" pitchFamily="18" charset="0"/>
                <a:cs typeface="Times New Roman" pitchFamily="18" charset="0"/>
              </a:rPr>
              <a:t>floor division – whole number</a:t>
            </a: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** exponentiation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% modulus (remainder after division)</a:t>
            </a:r>
            <a:r>
              <a:rPr lang="ar-SA" altLang="en-US" sz="2400" dirty="0">
                <a:latin typeface="Times New Roman" pitchFamily="18" charset="0"/>
                <a:cs typeface="Times New Roman" pitchFamily="18" charset="0"/>
              </a:rPr>
              <a:t>‏</a:t>
            </a:r>
            <a:endParaRPr lang="en-GB" alt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 == !=  &lt; &lt;= &gt; &gt;=   - Comparison operators 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and  or not – logical operators 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in  not in  - membership operators 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is  </a:t>
            </a:r>
            <a:r>
              <a:rPr lang="en-GB" altLang="en-US" sz="2400" dirty="0" err="1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 not  identity operators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98822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Operators</a:t>
            </a:r>
          </a:p>
        </p:txBody>
      </p:sp>
      <p:sp>
        <p:nvSpPr>
          <p:cNvPr id="55299" name="Rectangle 2"/>
          <p:cNvSpPr>
            <a:spLocks noGrp="1" noChangeArrowheads="1"/>
          </p:cNvSpPr>
          <p:nvPr>
            <p:ph idx="1"/>
          </p:nvPr>
        </p:nvSpPr>
        <p:spPr>
          <a:xfrm>
            <a:off x="423175" y="1295400"/>
            <a:ext cx="8229600" cy="4525963"/>
          </a:xfrm>
        </p:spPr>
        <p:txBody>
          <a:bodyPr>
            <a:noAutofit/>
          </a:bodyPr>
          <a:lstStyle/>
          <a:p>
            <a:pPr marL="364326" indent="-269284">
              <a:lnSpc>
                <a:spcPct val="93000"/>
              </a:lnSpc>
              <a:buSzPct val="45000"/>
              <a:buFont typeface="Wingdings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Example operators.py  # python 2.x – examples </a:t>
            </a: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print 2*2</a:t>
            </a: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print 2**3</a:t>
            </a: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print 10%3</a:t>
            </a: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print 1.0/2.0</a:t>
            </a: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print 1/2</a:t>
            </a: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Output:</a:t>
            </a: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4</a:t>
            </a: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8</a:t>
            </a: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1</a:t>
            </a: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0.5</a:t>
            </a: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Note the difference between floating point division and integer division in the last two lines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64187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54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b="1" dirty="0">
                <a:latin typeface="Times New Roman" pitchFamily="18" charset="0"/>
                <a:cs typeface="Times New Roman" pitchFamily="18" charset="0"/>
              </a:rPr>
              <a:t>+= but not ++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GB" altLang="en-US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dirty="0">
                <a:latin typeface="Times New Roman" pitchFamily="18" charset="0"/>
                <a:cs typeface="Times New Roman" pitchFamily="18" charset="0"/>
              </a:rPr>
              <a:t>Python has incorporated operators like +=, </a:t>
            </a: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dirty="0">
                <a:latin typeface="Times New Roman" pitchFamily="18" charset="0"/>
                <a:cs typeface="Times New Roman" pitchFamily="18" charset="0"/>
              </a:rPr>
              <a:t>  but ++ (or --) do not work in Python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65290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296" y="214853"/>
            <a:ext cx="8229600" cy="5715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296" y="6096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1: create a filename p4.py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2 : read any two disks partition name from &lt;STDIN&gt;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3 : read an individual partition size from &lt;STDIN&gt;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4: calculate sum of partition size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5: use multiline statement &amp; display input details in below format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Expected Result: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Python p4.py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Enter a disk partition: /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dev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/sda1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Enter /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dev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/sda1 partition Size: 100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Enter a disk partition:/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dev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/sda2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Enter /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dev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/sda2 partition Size:200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Partition   /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dev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/sda1    Size : 100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Partition   /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dev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/sda2    Size : 200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---------------------------------------------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Total     Partition Size:    300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------------------------------------------------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351703" cy="393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97238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54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String operators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Autofit/>
          </a:bodyPr>
          <a:lstStyle/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s1="Welcome"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s2="Python"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print(s1+"to"+s2) # </a:t>
            </a:r>
            <a:r>
              <a:rPr lang="en-US" altLang="en-US" sz="2700" dirty="0" err="1">
                <a:latin typeface="Times New Roman" pitchFamily="18" charset="0"/>
                <a:cs typeface="Times New Roman" pitchFamily="18" charset="0"/>
              </a:rPr>
              <a:t>WelcometoPython</a:t>
            </a: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s1="welcome"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print(s1*3) # </a:t>
            </a:r>
            <a:r>
              <a:rPr lang="en-US" altLang="en-US" sz="2700" dirty="0" err="1">
                <a:latin typeface="Times New Roman" pitchFamily="18" charset="0"/>
                <a:cs typeface="Times New Roman" pitchFamily="18" charset="0"/>
              </a:rPr>
              <a:t>WelcomeWelcomeWelcome</a:t>
            </a: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GB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count=1230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print("Total Sales count is:"+</a:t>
            </a:r>
            <a:r>
              <a:rPr lang="en-US" altLang="en-US" sz="2700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(count))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700" dirty="0">
                <a:latin typeface="Times New Roman" pitchFamily="18" charset="0"/>
                <a:cs typeface="Times New Roman" pitchFamily="18" charset="0"/>
              </a:rPr>
              <a:t># Total Sales count is:1230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73071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54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Examples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Autofit/>
          </a:bodyPr>
          <a:lstStyle/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s1= "sales"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b="1" dirty="0">
                <a:latin typeface="Times New Roman" pitchFamily="18" charset="0"/>
                <a:cs typeface="Times New Roman" pitchFamily="18" charset="0"/>
              </a:rPr>
              <a:t>s1 == "sales"</a:t>
            </a: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  True</a:t>
            </a: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b="1" dirty="0">
                <a:latin typeface="Times New Roman" pitchFamily="18" charset="0"/>
                <a:cs typeface="Times New Roman" pitchFamily="18" charset="0"/>
              </a:rPr>
              <a:t>s1 ==  "SALES"</a:t>
            </a: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  False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b="1" dirty="0">
                <a:latin typeface="Times New Roman" pitchFamily="18" charset="0"/>
                <a:cs typeface="Times New Roman" pitchFamily="18" charset="0"/>
              </a:rPr>
              <a:t>s1 != "SALES"</a:t>
            </a: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  True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80437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Predict the output of below expressions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Q1. “Admin” = = “admin”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Q2.   5062  &gt; 5000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Q3.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(“60”) &lt;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(“75”)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Q4.   “Raj” !=  “raj” 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Q5.   float(“1.34”)  &gt; 0.045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12104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907" y="34344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296" y="1066800"/>
            <a:ext cx="8229600" cy="452596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Test more than one condition 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860463"/>
              </p:ext>
            </p:extLst>
          </p:nvPr>
        </p:nvGraphicFramePr>
        <p:xfrm>
          <a:off x="410297" y="2269831"/>
          <a:ext cx="4771303" cy="1905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261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340">
                <a:tc>
                  <a:txBody>
                    <a:bodyPr/>
                    <a:lstStyle/>
                    <a:p>
                      <a:r>
                        <a:rPr lang="en-US" dirty="0"/>
                        <a:t>Condition1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b="1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en-US" b="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r>
                        <a:rPr lang="en-US" b="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lang="en-US" b="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0296" y="1770603"/>
            <a:ext cx="3840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Logical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operator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635059"/>
              </p:ext>
            </p:extLst>
          </p:nvPr>
        </p:nvGraphicFramePr>
        <p:xfrm>
          <a:off x="5257799" y="2281733"/>
          <a:ext cx="3886200" cy="190926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579">
                <a:tc>
                  <a:txBody>
                    <a:bodyPr/>
                    <a:lstStyle/>
                    <a:p>
                      <a:r>
                        <a:rPr lang="en-US" dirty="0"/>
                        <a:t>Condition1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579">
                <a:tc>
                  <a:txBody>
                    <a:bodyPr/>
                    <a:lstStyle/>
                    <a:p>
                      <a:r>
                        <a:rPr lang="en-US" b="1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579">
                <a:tc>
                  <a:txBody>
                    <a:bodyPr/>
                    <a:lstStyle/>
                    <a:p>
                      <a:r>
                        <a:rPr lang="en-US" b="1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579">
                <a:tc>
                  <a:txBody>
                    <a:bodyPr/>
                    <a:lstStyle/>
                    <a:p>
                      <a:r>
                        <a:rPr lang="en-US" b="1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50">
                <a:tc>
                  <a:txBody>
                    <a:bodyPr/>
                    <a:lstStyle/>
                    <a:p>
                      <a:r>
                        <a:rPr lang="en-US" b="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81600" y="1770603"/>
            <a:ext cx="4612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Logical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0296" y="4800600"/>
            <a:ext cx="3840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Logical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158" y="5445961"/>
            <a:ext cx="38409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True  =&gt; False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False =&gt; True</a:t>
            </a:r>
          </a:p>
        </p:txBody>
      </p:sp>
    </p:spTree>
    <p:extLst>
      <p:ext uri="{BB962C8B-B14F-4D97-AF65-F5344CB8AC3E}">
        <p14:creationId xmlns:p14="http://schemas.microsoft.com/office/powerpoint/2010/main" val="35419624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54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dirty="0">
                <a:latin typeface="Times New Roman" pitchFamily="18" charset="0"/>
                <a:cs typeface="Times New Roman" pitchFamily="18" charset="0"/>
              </a:rPr>
              <a:t>Logical operators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Autofit/>
          </a:bodyPr>
          <a:lstStyle/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counter=560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counter  &gt;500   </a:t>
            </a:r>
            <a:r>
              <a:rPr lang="en-US" altLang="en-US" sz="2700" b="1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   counter&lt;600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service=“apache2”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service == “apache2” </a:t>
            </a:r>
            <a:r>
              <a:rPr lang="en-US" altLang="en-US" sz="2700" b="1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 service == “</a:t>
            </a:r>
            <a:r>
              <a:rPr lang="en-US" altLang="en-US" sz="2700" dirty="0" err="1">
                <a:latin typeface="Times New Roman" pitchFamily="18" charset="0"/>
                <a:cs typeface="Times New Roman" pitchFamily="18" charset="0"/>
              </a:rPr>
              <a:t>httpd</a:t>
            </a: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S=“root”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700" b="1" dirty="0"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 S == “root”</a:t>
            </a: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7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76643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54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dirty="0">
                <a:latin typeface="Times New Roman" pitchFamily="18" charset="0"/>
                <a:cs typeface="Times New Roman" pitchFamily="18" charset="0"/>
              </a:rPr>
              <a:t>Membership operators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Autofit/>
          </a:bodyPr>
          <a:lstStyle/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b="1" dirty="0">
                <a:latin typeface="Times New Roman" pitchFamily="18" charset="0"/>
                <a:cs typeface="Times New Roman" pitchFamily="18" charset="0"/>
              </a:rPr>
              <a:t>in    not in   =&gt; True / False 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altLang="en-US" sz="2800" dirty="0" err="1">
                <a:latin typeface="Times New Roman" pitchFamily="18" charset="0"/>
                <a:cs typeface="Times New Roman" pitchFamily="18" charset="0"/>
              </a:rPr>
              <a:t>searchPattern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”   in  </a:t>
            </a:r>
            <a:r>
              <a:rPr lang="en-US" altLang="en-US" sz="2800" dirty="0" err="1">
                <a:latin typeface="Times New Roman" pitchFamily="18" charset="0"/>
                <a:cs typeface="Times New Roman" pitchFamily="18" charset="0"/>
              </a:rPr>
              <a:t>inputString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=&gt; True/False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 “e” </a:t>
            </a:r>
            <a:r>
              <a:rPr lang="en-US" altLang="en-US" sz="2800" b="1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“hello” =&gt; True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“E” </a:t>
            </a:r>
            <a:r>
              <a:rPr lang="en-US" altLang="en-US" sz="2800" b="1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“hello” =&gt; False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 “E” </a:t>
            </a:r>
            <a:r>
              <a:rPr lang="en-US" altLang="en-US" sz="2800" b="1" dirty="0">
                <a:latin typeface="Times New Roman" pitchFamily="18" charset="0"/>
                <a:cs typeface="Times New Roman" pitchFamily="18" charset="0"/>
              </a:rPr>
              <a:t>not in 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“hello” =&gt; True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49633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>
              <a:lnSpc>
                <a:spcPct val="54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Identity operators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idx="1"/>
          </p:nvPr>
        </p:nvSpPr>
        <p:spPr>
          <a:xfrm>
            <a:off x="405685" y="1000259"/>
            <a:ext cx="8229600" cy="4525963"/>
          </a:xfrm>
        </p:spPr>
        <p:txBody>
          <a:bodyPr>
            <a:noAutofit/>
          </a:bodyPr>
          <a:lstStyle/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‘is’ operator –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Evaluates to true if the variables on either side of the operator point to the same object and false otherwise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x=100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type(x) </a:t>
            </a: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  True</a:t>
            </a: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‘is not’ operator –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Evaluates to false if the variables on either side of the operator point to the same object and true otherwise.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1800" dirty="0">
                <a:latin typeface="Times New Roman" pitchFamily="18" charset="0"/>
                <a:cs typeface="Times New Roman" pitchFamily="18" charset="0"/>
              </a:rPr>
              <a:t>type(x) </a:t>
            </a:r>
            <a:r>
              <a:rPr lang="en-US" altLang="en-US" sz="1800" b="1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alt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1800" dirty="0" err="1">
                <a:latin typeface="Times New Roman" pitchFamily="18" charset="0"/>
                <a:cs typeface="Times New Roman" pitchFamily="18" charset="0"/>
              </a:rPr>
              <a:t>str</a:t>
            </a:r>
            <a:endParaRPr lang="en-US" altLang="en-US" sz="1800" dirty="0">
              <a:latin typeface="Times New Roman" pitchFamily="18" charset="0"/>
              <a:cs typeface="Times New Roman" pitchFamily="18" charset="0"/>
            </a:endParaRP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1800" dirty="0">
                <a:latin typeface="Times New Roman" pitchFamily="18" charset="0"/>
                <a:cs typeface="Times New Roman" pitchFamily="18" charset="0"/>
              </a:rPr>
              <a:t>    False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1800" dirty="0">
                <a:latin typeface="Times New Roman" pitchFamily="18" charset="0"/>
                <a:cs typeface="Times New Roman" pitchFamily="18" charset="0"/>
              </a:rPr>
              <a:t>type(x) </a:t>
            </a:r>
            <a:r>
              <a:rPr lang="en-US" altLang="en-US" sz="1800" b="1" dirty="0">
                <a:latin typeface="Times New Roman" pitchFamily="18" charset="0"/>
                <a:cs typeface="Times New Roman" pitchFamily="18" charset="0"/>
              </a:rPr>
              <a:t>is not  </a:t>
            </a:r>
            <a:r>
              <a:rPr lang="en-US" altLang="en-US" sz="1800" dirty="0" err="1">
                <a:latin typeface="Times New Roman" pitchFamily="18" charset="0"/>
                <a:cs typeface="Times New Roman" pitchFamily="18" charset="0"/>
              </a:rPr>
              <a:t>str</a:t>
            </a:r>
            <a:endParaRPr lang="en-US" altLang="en-US" sz="1800" dirty="0">
              <a:latin typeface="Times New Roman" pitchFamily="18" charset="0"/>
              <a:cs typeface="Times New Roman" pitchFamily="18" charset="0"/>
            </a:endParaRP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1800" dirty="0">
                <a:latin typeface="Times New Roman" pitchFamily="18" charset="0"/>
                <a:cs typeface="Times New Roman" pitchFamily="18" charset="0"/>
              </a:rPr>
              <a:t>   True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7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79853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Predict the result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Q1.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sname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=“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xerox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0" indent="0">
              <a:buNone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sname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== “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xerox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” 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sname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== “XEROX”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Q2.  port=6590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port &gt;6000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port &lt;7000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Q3.  app=“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TestApp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app=“testapp1”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app == “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testapp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app== “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TestApp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1205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Python Conditional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Testing (or) Validation (or) Decision making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Conditional code block will execute only one time.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Conditional statements are handled by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statements.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6332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Python Conditional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If statement we can write 3 ways </a:t>
            </a:r>
          </a:p>
          <a:p>
            <a:pPr marL="571500" indent="-571500">
              <a:buAutoNum type="romanUcParenR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if  only style </a:t>
            </a:r>
          </a:p>
          <a:p>
            <a:pPr marL="571500" indent="-571500">
              <a:buAutoNum type="romanUcParenR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if ..else style </a:t>
            </a:r>
          </a:p>
          <a:p>
            <a:pPr marL="571500" indent="-571500">
              <a:buAutoNum type="romanUcParenR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if ..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…else  style 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855807" cy="956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24902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Python Conditional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2600"/>
            <a:ext cx="8229600" cy="493356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What is if statement ? </a:t>
            </a:r>
          </a:p>
          <a:p>
            <a:pPr>
              <a:lnSpc>
                <a:spcPct val="22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a python keyword.</a:t>
            </a:r>
          </a:p>
          <a:p>
            <a:pPr>
              <a:lnSpc>
                <a:spcPct val="22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statement is used for testing (or) decision making (or) validation.</a:t>
            </a:r>
          </a:p>
          <a:p>
            <a:pPr>
              <a:lnSpc>
                <a:spcPct val="22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only style code block will run the body of code only when if statement is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How to use if only style?</a:t>
            </a:r>
          </a:p>
          <a:p>
            <a:pPr marL="400050" lvl="1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Syntax:-</a:t>
            </a:r>
          </a:p>
          <a:p>
            <a:pPr marL="400050" lvl="1" indent="0">
              <a:lnSpc>
                <a:spcPct val="17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if(condition):</a:t>
            </a:r>
          </a:p>
          <a:p>
            <a:pPr marL="400050" lvl="1" indent="0">
              <a:lnSpc>
                <a:spcPct val="17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&lt;----&gt;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True only block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15406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Python Conditional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2600"/>
            <a:ext cx="8229600" cy="493356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name="root"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name == "root"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True</a:t>
            </a:r>
          </a:p>
          <a:p>
            <a:pPr marL="0" indent="0"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if(name == "root"):</a:t>
            </a:r>
          </a:p>
          <a:p>
            <a:pPr marL="0" indent="0"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...     print("Login is success")</a:t>
            </a:r>
          </a:p>
          <a:p>
            <a:pPr marL="0" indent="0"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marL="0" indent="0"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Login is success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name = "admin"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&gt;&gt;&gt; name == "root"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False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&gt;&gt;&gt; if(name == "root"):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...     print("Login is success")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&gt;&gt;&gt;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97246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Python Conditional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2600"/>
            <a:ext cx="8229600" cy="493356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count=50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&gt;&gt;&gt; count&gt;10</a:t>
            </a:r>
          </a:p>
          <a:p>
            <a:pPr marL="0" indent="0"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True</a:t>
            </a:r>
          </a:p>
          <a:p>
            <a:pPr marL="0" indent="0"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&gt;&gt;&gt; if(count&gt;10):</a:t>
            </a:r>
          </a:p>
          <a:p>
            <a:pPr marL="0" indent="0"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...     print("valid count:{}".format(count))</a:t>
            </a:r>
          </a:p>
          <a:p>
            <a:pPr marL="0" indent="0"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marL="0" indent="0"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valid count:50</a:t>
            </a:r>
          </a:p>
          <a:p>
            <a:pPr marL="0" indent="0"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3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&gt;&gt;&gt; count&lt;10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False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&gt;&gt;&gt; if(count&lt;10):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...     print("valid count:{}".format(count))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87611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if ..else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2600"/>
            <a:ext cx="8229600" cy="49335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if(condition):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True block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False block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 count=50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 count&gt;100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False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 if(count&gt;100):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...     print("valid count:{}".format(count))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...   else: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….    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print(“invalid count:{}”.format(count))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invalid count:100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15038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if ..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2600"/>
            <a:ext cx="8229600" cy="49335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Multi conditional statement 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if(condition1):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Trueblock1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(condition2):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	Trueblock2</a:t>
            </a:r>
          </a:p>
          <a:p>
            <a:pPr marL="0" indent="0">
              <a:buNone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(condition3):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True block3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…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(condition N):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	True block 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False block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80044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if ..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2600"/>
            <a:ext cx="8229600" cy="49335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name="root"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if(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== "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Login name is:{}".format(name)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(name == "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userA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print("Login name is:{}".format(name))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(name == "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userB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print("Login name is:{}".format(name))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else: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print("Invalid login name")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Login name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is:root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794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if ..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2600"/>
            <a:ext cx="8229600" cy="49335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name=“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userA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if(name == "root"):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print("Login name is:{}".format(name))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(name == "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userA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Login name is:{}".format(name)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(name == "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userB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print("Login name is:{}".format(name))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else: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print("Invalid login name")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Login name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is:userA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426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if ..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2600"/>
            <a:ext cx="8229600" cy="49335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name=“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userB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if(name == "root"):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print("Login name is:{}".format(name))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(name == "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userA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print("Login name is:{}".format(name))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(name == "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userB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Login name is:{}".format(name)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else: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print("Invalid login name")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Login name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is:userB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185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if ..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2600"/>
            <a:ext cx="8229600" cy="49335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name=“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userC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if(name == "root"):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print("Login name is:{}".format(name))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(name == "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userA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print("Login name is:{}".format(name))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(name == "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userB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print("Login name is:{}".format(name))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else: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Invalid login 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Invalid login name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6791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1: create a file name p5.py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2: Declare a variable name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initialize it with value “root”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3: read a user name from &lt;STDIN&gt;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4: Test if input user name matched  with value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5:If matched, display message “login is valid “ else  display “login is invalid.”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454764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1: create a filename p6.py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2: Read a port number from &lt;STDIN&gt;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3: Test whether input port number range between 501-599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4: If matched, initialize the application name as “Test-App1”.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5: else display message “invalid port number.”</a:t>
            </a:r>
          </a:p>
          <a:p>
            <a:endParaRPr lang="en-US" dirty="0"/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088779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Write a python program –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1: create file name p7.py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2: Read a shell name from &lt;STDIN&gt;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3: If input shell name is bash, initialize profile file name as “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bashrc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4: If input shell name is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initialize profile filename as “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kshrc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5: If input shell name is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initialize profile filename as “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winprofile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6:If neither of the shell name matches, Initialize with default shell name as “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nologin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 and profile file name  as “/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/profile”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7 : Display shell name and shell profile filename 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08621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Python Looping statements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General loop is used to execute a block of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statements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or code several times until the given condition becomes false.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We use for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loop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when we know the number of times to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iterate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while – loop (Condition)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for – loop (Collection)</a:t>
            </a:r>
          </a:p>
        </p:txBody>
      </p:sp>
    </p:spTree>
    <p:extLst>
      <p:ext uri="{BB962C8B-B14F-4D97-AF65-F5344CB8AC3E}">
        <p14:creationId xmlns:p14="http://schemas.microsoft.com/office/powerpoint/2010/main" val="36963026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Python Looping statements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while loop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while loop in Python is used to iterate over a block of code as long as the test expression (condition) is true.</a:t>
            </a:r>
          </a:p>
          <a:p>
            <a:pPr marL="0" indent="0">
              <a:buNone/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while(condition):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&lt;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codeblock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AutoShape 2" descr="while Loop in Python programmi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605645"/>
            <a:ext cx="2124075" cy="316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86068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Python Looping statements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3 Points to remember 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Initialization           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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</a:t>
            </a:r>
            <a:r>
              <a:rPr lang="en-US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=0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Condition             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 while(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</a:t>
            </a:r>
            <a:r>
              <a:rPr lang="en-US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&lt;5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):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Increment/Decrement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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=</a:t>
            </a:r>
            <a:r>
              <a:rPr lang="en-US" b="1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i+1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5600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Python Looping statements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48396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&gt;&gt;&gt;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=0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 while(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&lt;3):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# 0 &lt; 3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True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print(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“Hello…{}”.format(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=i+1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Hello…0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6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Python Looping statements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48396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&gt;&gt;&gt;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=0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while(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&lt;3):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# 1&lt;3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True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print(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“Hello…{}”.format(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=i+1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Hello…0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Hello…1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1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Python Looping statements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48396" y="1600200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&gt;&gt;&gt;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=0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while(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&lt;3):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# 2&lt;3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True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print(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“Hello…{}”.format(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=i+1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Hello…0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Hello…1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Hello…2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06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Python Looping statements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48396" y="1600200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=0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 while(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&lt;3): 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3&lt;3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False 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Exit from loop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print(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“Hello…{}”.format(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=i+1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Hello…0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Hello…1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Hello…2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280786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96" y="23899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Python Looping statements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48396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For loops are used for sequential traversal.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Syntax:-</a:t>
            </a:r>
          </a:p>
          <a:p>
            <a:pPr marL="400050" lvl="1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variable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collection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code block(s)</a:t>
            </a:r>
          </a:p>
          <a:p>
            <a:pPr marL="400050" lvl="1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Example:-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for v in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abcd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”: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print(“Hello..{}”.format(v))</a:t>
            </a:r>
          </a:p>
          <a:p>
            <a:pPr marL="400050" lvl="1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Hello..’a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’</a:t>
            </a:r>
          </a:p>
          <a:p>
            <a:pPr marL="400050" lvl="1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Hello..’b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’</a:t>
            </a:r>
          </a:p>
          <a:p>
            <a:pPr marL="400050" lvl="1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Hello..’c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’</a:t>
            </a:r>
          </a:p>
          <a:p>
            <a:pPr marL="400050" lvl="1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Hello..’d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’</a:t>
            </a:r>
          </a:p>
          <a:p>
            <a:pPr marL="40005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24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0039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break ;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break  - exit from loop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continue -  continue from next element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36138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Write a program:</a:t>
            </a:r>
          </a:p>
          <a:p>
            <a:pPr marL="0" indent="0">
              <a:buNone/>
            </a:pPr>
            <a:r>
              <a:rPr lang="en-US" dirty="0"/>
              <a:t>Step 1: create a file name p8.py</a:t>
            </a:r>
          </a:p>
          <a:p>
            <a:pPr marL="0" indent="0">
              <a:buNone/>
            </a:pPr>
            <a:r>
              <a:rPr lang="en-US" dirty="0"/>
              <a:t>Step 2: declare &amp; initialize the pin number (ex: pin=1234)</a:t>
            </a:r>
          </a:p>
          <a:p>
            <a:pPr marL="0" indent="0">
              <a:buNone/>
            </a:pPr>
            <a:r>
              <a:rPr lang="en-US" dirty="0"/>
              <a:t>Step 3: Use while loop to iterate following statement thrice</a:t>
            </a:r>
          </a:p>
          <a:p>
            <a:pPr marL="0" indent="0">
              <a:buNone/>
            </a:pPr>
            <a:r>
              <a:rPr lang="en-US" dirty="0"/>
              <a:t>	(</a:t>
            </a:r>
            <a:r>
              <a:rPr lang="en-US" dirty="0" err="1"/>
              <a:t>i</a:t>
            </a:r>
            <a:r>
              <a:rPr lang="en-US" dirty="0"/>
              <a:t>) Read a pin number from &lt;STDIN&gt;</a:t>
            </a:r>
          </a:p>
          <a:p>
            <a:pPr marL="0" indent="0">
              <a:buNone/>
            </a:pPr>
            <a:r>
              <a:rPr lang="en-US" dirty="0"/>
              <a:t>	(ii) Compare a input pin with existing pin number</a:t>
            </a:r>
          </a:p>
          <a:p>
            <a:pPr marL="0" indent="0">
              <a:buNone/>
            </a:pPr>
            <a:r>
              <a:rPr lang="en-US" dirty="0"/>
              <a:t>	(iii) If both pin numbers are matched , display pin number is matched at count time &amp; exit from loop.</a:t>
            </a:r>
          </a:p>
          <a:p>
            <a:pPr marL="0" indent="0">
              <a:buNone/>
            </a:pPr>
            <a:r>
              <a:rPr lang="en-US" dirty="0"/>
              <a:t>	(iv) If all 3 attempts fails, display message “ your pin is blocked.”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125802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1: create a file name: p9.py</a:t>
            </a:r>
          </a:p>
          <a:p>
            <a:pPr marL="0" indent="0">
              <a:buNone/>
            </a:pPr>
            <a:r>
              <a:rPr lang="en-US" dirty="0"/>
              <a:t>Given String </a:t>
            </a:r>
          </a:p>
          <a:p>
            <a:pPr marL="0" indent="0">
              <a:buNone/>
            </a:pPr>
            <a:r>
              <a:rPr lang="en-US" dirty="0"/>
              <a:t>S=“123456578”</a:t>
            </a:r>
          </a:p>
          <a:p>
            <a:pPr marL="0" indent="0">
              <a:buNone/>
            </a:pPr>
            <a:r>
              <a:rPr lang="en-US" dirty="0"/>
              <a:t>Step 2: Calculate sum of numbers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 : use for loop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049170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1: create a new file p10.py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2: Modify the below code using while loop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s=“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abcd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s:</a:t>
            </a: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print(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635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63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3: Display list of characters one by one</a:t>
            </a:r>
          </a:p>
          <a:p>
            <a:pPr marL="45720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428599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79607" cy="87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2000" y="30480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Lesson - 5</a:t>
            </a:r>
          </a:p>
        </p:txBody>
      </p:sp>
    </p:spTree>
    <p:extLst>
      <p:ext uri="{BB962C8B-B14F-4D97-AF65-F5344CB8AC3E}">
        <p14:creationId xmlns:p14="http://schemas.microsoft.com/office/powerpoint/2010/main" val="317800043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Python -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List ( list  - [ ] 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Tuple ( tuple – () 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Dictionary  (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{ } 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Set (set)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46738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Lists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just like dynamic sized arrays, declared in other languages.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List are ordered elements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single list may contain mixed data types.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Lists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mutable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hence, they can be altered even after their creation.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547097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elements in a list are indexed according to a definite sequence and the indexing of a list is done with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being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first index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Each element in the list has its definite place in the list, which allows duplicating of elements in the list, with each element having its own distinct place and credibility.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List supports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indexing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slicing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357702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List -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Listname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=[]  # Creating a list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DB=[‘oracle’,’sql’,’plsql’,’mysql’,’sqlite3’]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Emp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=[‘arun’,’sales’,133,1323.23,True]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87761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L=['D1', 10, 3.45,True,None ]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# 0      1     2       3       4   &lt;== index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#  -5  -4    -3      -2     -1&lt;== index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type(L)     =&gt;  &lt;class ‘list’)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type(L[0]) =&gt; &lt;class ‘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’&gt;</a:t>
            </a:r>
          </a:p>
          <a:p>
            <a:pPr marL="0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(L) =&gt; 5 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803690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List – Index and 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Files=[‘p1.c’ ,’p2.java’,’p3.cpp’,’p4.py’,’repo.log’]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#   0          1                2           3          4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 index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Files[1]  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# ‘p2.java’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Files[1:4]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# [ ‘p2.java’, ’p3.cpp’, ’p4.py’ ]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Files[:2]       # [‘p1.c’,’p2.java’]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586954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Membership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# "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searchString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inputList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-&gt;True/False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fnames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=["p1.log","p2.log","p3.log","test.log"]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if("p3.log"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fnames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print("Yes file p3.log is exists")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print("Sorry file is not exists")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885502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List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Listname.append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(Value)  </a:t>
            </a:r>
          </a:p>
          <a:p>
            <a:pPr marL="914400" lvl="2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(or)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Listname.insert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index,Value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# we can add new data to existing list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Listname.pop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(Index)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# we can delete nth data from existing list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Listname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[index]=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updated_value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# we can modify existing nth data from list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604055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L=[]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(L))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#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Listname.append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(Value)  =&gt;None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L.append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("p1.log")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L.append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(100)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L.append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(3.45)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L.append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(True)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print(L)  =&gt; [‘p1.log’,100,3.45,True]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078960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List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Listname.pop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Listname.insert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Index,Value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Listname.index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(Value)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Listname.count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(value)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380845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Q1. write a python program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1 : Create a file name : p11.py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2: create an empty list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3: display size of list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4: use while loop  5 times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    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  To read a hostname from &lt;STDIN&gt;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      ii) To add a input hostname to existing list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5: using for loop, display list of elements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6: display size of the list 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653457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296" y="1143000"/>
            <a:ext cx="8733704" cy="5562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Q2. write a python program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Given List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DBs=[‘oracle’,’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’,’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’,’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plsql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’]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Step 1: create a file name :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p12.py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Step 2: read a database name from &lt;STDIN&gt;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Step 3: test input database name is existing or not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Step 4: if input DB name exists, using index(), display index number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Step 5: If input DB does not exist, add the input DB name to the existing list.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Step 6: display list line by line using for loop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027057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Q3. write a python program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Given List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1: create a filename p13.py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LB=[‘0.13’,’14.4’,’1.34’,’3.24’,’2.44’]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2: Calculate sum of load balance 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585322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76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Tuple</a:t>
            </a:r>
          </a:p>
        </p:txBody>
      </p:sp>
      <p:sp>
        <p:nvSpPr>
          <p:cNvPr id="77826" name="Rectangle 2"/>
          <p:cNvSpPr>
            <a:spLocks noGrp="1" noChangeArrowheads="1"/>
          </p:cNvSpPr>
          <p:nvPr>
            <p:ph idx="1"/>
          </p:nvPr>
        </p:nvSpPr>
        <p:spPr>
          <a:xfrm>
            <a:off x="410296" y="1295400"/>
            <a:ext cx="8229600" cy="4525963"/>
          </a:xfrm>
        </p:spPr>
        <p:txBody>
          <a:bodyPr>
            <a:noAutofit/>
          </a:bodyPr>
          <a:lstStyle/>
          <a:p>
            <a:pPr marL="364326" indent="-269284">
              <a:lnSpc>
                <a:spcPct val="76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Tuple – Collection of elements  like list </a:t>
            </a:r>
          </a:p>
          <a:p>
            <a:pPr marL="364326" indent="-269284">
              <a:lnSpc>
                <a:spcPct val="76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150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he difference between the two is that we cannot change the elements of a tuple once it is assigned whereas we can change the elements of a list.</a:t>
            </a:r>
          </a:p>
          <a:p>
            <a:pPr marL="95042" indent="0">
              <a:lnSpc>
                <a:spcPct val="76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i.e., tuple is immutable </a:t>
            </a:r>
          </a:p>
          <a:p>
            <a:pPr marL="364326" indent="-269284">
              <a:lnSpc>
                <a:spcPct val="76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GB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76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type(( ))  </a:t>
            </a: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  type([])</a:t>
            </a:r>
          </a:p>
          <a:p>
            <a:pPr marL="364326" indent="-269284">
              <a:lnSpc>
                <a:spcPct val="76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GB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34650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76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Tuple</a:t>
            </a:r>
          </a:p>
        </p:txBody>
      </p:sp>
      <p:sp>
        <p:nvSpPr>
          <p:cNvPr id="77826" name="Rectangle 2"/>
          <p:cNvSpPr>
            <a:spLocks noGrp="1" noChangeArrowheads="1"/>
          </p:cNvSpPr>
          <p:nvPr>
            <p:ph idx="1"/>
          </p:nvPr>
        </p:nvSpPr>
        <p:spPr>
          <a:xfrm>
            <a:off x="410296" y="1295400"/>
            <a:ext cx="8229600" cy="4525963"/>
          </a:xfrm>
        </p:spPr>
        <p:txBody>
          <a:bodyPr>
            <a:noAutofit/>
          </a:bodyPr>
          <a:lstStyle/>
          <a:p>
            <a:pPr marL="95042" indent="0">
              <a:lnSpc>
                <a:spcPct val="76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Syntax:-</a:t>
            </a:r>
          </a:p>
          <a:p>
            <a:pPr marL="95042" indent="0">
              <a:lnSpc>
                <a:spcPct val="76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tuplename=(list of elements)</a:t>
            </a:r>
          </a:p>
          <a:p>
            <a:pPr marL="364326" indent="-269284">
              <a:lnSpc>
                <a:spcPct val="76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GB" altLang="en-US" sz="4000" b="1" dirty="0">
              <a:latin typeface="Times New Roman" pitchFamily="18" charset="0"/>
              <a:cs typeface="Times New Roman" pitchFamily="18" charset="0"/>
            </a:endParaRPr>
          </a:p>
          <a:p>
            <a:pPr marL="95042" indent="0">
              <a:lnSpc>
                <a:spcPct val="76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4000" b="1" dirty="0">
                <a:latin typeface="Times New Roman" pitchFamily="18" charset="0"/>
                <a:cs typeface="Times New Roman" pitchFamily="18" charset="0"/>
              </a:rPr>
              <a:t>tname=(10,20.45,”data”,True)</a:t>
            </a:r>
          </a:p>
          <a:p>
            <a:pPr marL="95042" indent="0">
              <a:lnSpc>
                <a:spcPct val="76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4000" b="1" dirty="0" err="1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GB" altLang="en-US" sz="40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altLang="en-US" sz="4000" b="1" dirty="0" err="1">
                <a:latin typeface="Times New Roman" pitchFamily="18" charset="0"/>
                <a:cs typeface="Times New Roman" pitchFamily="18" charset="0"/>
              </a:rPr>
              <a:t>tname</a:t>
            </a:r>
            <a:r>
              <a:rPr lang="en-GB" altLang="en-US" sz="4000" b="1" dirty="0">
                <a:latin typeface="Times New Roman" pitchFamily="18" charset="0"/>
                <a:cs typeface="Times New Roman" pitchFamily="18" charset="0"/>
              </a:rPr>
              <a:t>) =&gt; 4</a:t>
            </a:r>
          </a:p>
          <a:p>
            <a:pPr marL="364326" indent="-269284">
              <a:lnSpc>
                <a:spcPct val="76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GB" altLang="en-US" sz="4000" b="1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76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GB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5079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76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 Tuple</a:t>
            </a:r>
          </a:p>
        </p:txBody>
      </p:sp>
      <p:sp>
        <p:nvSpPr>
          <p:cNvPr id="77826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tuple can also be created without using parentheses. This is known as tuple packing.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V1=10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type(V1) =&gt; &lt;class ‘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’&gt;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V2=10, 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type(V2)  =&gt;  &lt;class ‘tuple’&gt;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GB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03816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 Iterating Through a list/tuple</a:t>
            </a:r>
          </a:p>
        </p:txBody>
      </p:sp>
      <p:sp>
        <p:nvSpPr>
          <p:cNvPr id="77826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228600" y="1600200"/>
            <a:ext cx="4495800" cy="4525963"/>
          </a:xfrm>
        </p:spPr>
        <p:txBody>
          <a:bodyPr>
            <a:noAutofit/>
          </a:bodyPr>
          <a:lstStyle/>
          <a:p>
            <a:endParaRPr lang="en-GB" alt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F=[‘p1.log’,’p2.log’,’p3.log’]</a:t>
            </a:r>
          </a:p>
          <a:p>
            <a:endParaRPr lang="en-GB" alt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GB" altLang="en-US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GB" alt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GB" altLang="en-US" dirty="0">
                <a:latin typeface="Times New Roman" pitchFamily="18" charset="0"/>
                <a:cs typeface="Times New Roman" pitchFamily="18" charset="0"/>
              </a:rPr>
              <a:t> in F</a:t>
            </a:r>
            <a:r>
              <a:rPr lang="en-GB" altLang="en-US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en-GB" altLang="en-US" dirty="0">
                <a:latin typeface="Times New Roman" pitchFamily="18" charset="0"/>
                <a:cs typeface="Times New Roman" pitchFamily="18" charset="0"/>
              </a:rPr>
              <a:t>   print(</a:t>
            </a:r>
            <a:r>
              <a:rPr lang="en-GB" alt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GB" alt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7150" indent="0">
              <a:buNone/>
            </a:pPr>
            <a:endParaRPr lang="en-GB" altLang="en-US" dirty="0">
              <a:latin typeface="Times New Roman" pitchFamily="18" charset="0"/>
              <a:cs typeface="Times New Roman" pitchFamily="18" charset="0"/>
            </a:endParaRPr>
          </a:p>
          <a:p>
            <a:pPr marL="57150" indent="0">
              <a:buNone/>
            </a:pPr>
            <a:r>
              <a:rPr lang="en-GB" altLang="en-US" dirty="0">
                <a:latin typeface="Times New Roman" pitchFamily="18" charset="0"/>
                <a:cs typeface="Times New Roman" pitchFamily="18" charset="0"/>
              </a:rPr>
              <a:t>p1.log</a:t>
            </a:r>
          </a:p>
          <a:p>
            <a:pPr marL="57150" indent="0">
              <a:buNone/>
            </a:pPr>
            <a:r>
              <a:rPr lang="en-GB" altLang="en-US" dirty="0">
                <a:latin typeface="Times New Roman" pitchFamily="18" charset="0"/>
                <a:cs typeface="Times New Roman" pitchFamily="18" charset="0"/>
              </a:rPr>
              <a:t>p2.log</a:t>
            </a:r>
          </a:p>
          <a:p>
            <a:pPr marL="57150" indent="0">
              <a:buNone/>
            </a:pPr>
            <a:r>
              <a:rPr lang="en-GB" altLang="en-US" dirty="0">
                <a:latin typeface="Times New Roman" pitchFamily="18" charset="0"/>
                <a:cs typeface="Times New Roman" pitchFamily="18" charset="0"/>
              </a:rPr>
              <a:t>p3.log</a:t>
            </a:r>
          </a:p>
          <a:p>
            <a:pPr marL="57150" indent="0">
              <a:buNone/>
            </a:pPr>
            <a:endParaRPr lang="en-GB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4114800" y="1981200"/>
            <a:ext cx="4724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servers=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unix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”,”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”,”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aix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servers:</a:t>
            </a:r>
          </a:p>
          <a:p>
            <a:pPr marL="457200" lvl="1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print(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unix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linux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aix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97589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Tuple operations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tuple supports indexing  and  slicing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tuple supports membership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 not 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operators.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We typecast list to tuple vice versa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tuple(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input_List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list(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input_tuple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846099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Deleting a Tuple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we cannot change the elements in a tuple. It means that we cannot delete or remove items from a tuple.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Deleting a tuple entirely, however, is possible using the function del().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del(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tuple_name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711095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Tuple usages in python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Since tuples are immutable, iterating through a tuple is faster than with list. So there is a slight performance boost.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Tuples that contain immutable elements can be used as a key for a dictionary. With lists, this is not possible.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you have data that doesn't change, implementing it as tuple will guarantee that it remains write-protected.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tuple() type of structures used in functions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64604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Predict the error message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Q1. T=(1,2.3,’D1’)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T[1]=“data1”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Q2.  T=(10,20,30,40,50)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print(T[-6])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Q3. T=(1,2)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del(T[1])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664530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296" y="214853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614" y="14478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Q1. Write  a python program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1: create a filename p14.py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Given tuple</a:t>
            </a:r>
          </a:p>
          <a:p>
            <a:pPr marL="0" indent="0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Products=(“P1”,”P2”,”P3”,”P4”,”P5”)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2:  display the list of products except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P2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P3 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Note :use for loop statement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413553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296" y="9659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93" y="685800"/>
            <a:ext cx="88392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Write a python program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1: create a filename  p15.py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Given Tuple :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EMP=(‘101,leo,sales,1000’,’102,paul,prod,2000’,’103,raj,HR,3000’)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2:  use for loop along with split() to get the following expected result.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Expected result:-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Emp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name is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leo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working department is sales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Emp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name is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paul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working department  is prod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Emp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name is  raj   working department is HR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---------------------------------------------------------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Sum of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Emp’s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cost is: 6000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----------------------------------------------------------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254609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7"/>
          <p:cNvSpPr>
            <a:spLocks noGrp="1"/>
          </p:cNvSpPr>
          <p:nvPr>
            <p:ph type="title"/>
          </p:nvPr>
        </p:nvSpPr>
        <p:spPr>
          <a:xfrm>
            <a:off x="762000" y="30480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Lesson - 6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745480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Dictionary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10296" y="914400"/>
            <a:ext cx="8229600" cy="4525963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Python dictionary is an unordered collection of items.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Syntax:-</a:t>
            </a:r>
          </a:p>
          <a:p>
            <a:pPr marL="400050" lvl="1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dict_name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={“key1”:Value,”Key2”:Value,..”Kn”:”Vn”}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Data – {‘Key’ : Value }</a:t>
            </a:r>
          </a:p>
          <a:p>
            <a:pPr marL="40005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app={“port”:80,”service”:”apache2”}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166621"/>
              </p:ext>
            </p:extLst>
          </p:nvPr>
        </p:nvGraphicFramePr>
        <p:xfrm>
          <a:off x="1524000" y="4206240"/>
          <a:ext cx="3276601" cy="1737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itchFamily="18" charset="0"/>
                          <a:cs typeface="Times New Roman" pitchFamily="18" charset="0"/>
                        </a:rPr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itchFamily="18" charset="0"/>
                          <a:cs typeface="Times New Roman" pitchFamily="18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itchFamily="18" charset="0"/>
                          <a:cs typeface="Times New Roman" pitchFamily="18" charset="0"/>
                        </a:rPr>
                        <a:t>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itchFamily="18" charset="0"/>
                          <a:cs typeface="Times New Roman" pitchFamily="18" charset="0"/>
                        </a:rP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itchFamily="18" charset="0"/>
                          <a:cs typeface="Times New Roman" pitchFamily="18" charset="0"/>
                        </a:rPr>
                        <a:t>apache2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10941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589" y="23611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 operations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296" y="13716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# Accessing Elements from Dictionary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dict_name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[‘Key’] 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Value /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KeyError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# adding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newdata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to existing dictionary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dict_name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[‘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NewKey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’]=Value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# modifying existing dictionary element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dict_name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[‘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ExistingKey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’]=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Updated_value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# deleting nth element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del(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dict_name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[‘Key’])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345083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1 -  Open a python shell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2 -  create an empty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(ex: d={})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3 -   read a hostname from &lt;STDIN&gt;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  read an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IPAddress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from &lt;STDIN&gt;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4 -   add a input details to existing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  with  hostname as a key  and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IPAddress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as its value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5 -  display dictionary and it’s size 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410384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 methods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dict.get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(Key)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dict.setdefault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Key,Value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dict.pop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(“key”)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dict.keys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1915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698073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296" y="1219200"/>
            <a:ext cx="8458200" cy="5410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Write a python program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1 : create a file name: p16.py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2 : create an empty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dict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3 : use looping statements – 5times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Read a hostname from &lt;STDIN&gt;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ii) Read a IP-Address from &lt;STDIN&gt;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iii) Add a input details to existing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dict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iv) with hostname as a key and IP address as it’s value</a:t>
            </a:r>
            <a:endParaRPr lang="en-US" sz="24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Step 4 : display Key/ value details to monitor 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114695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296" y="429665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Dictionary Membership Test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We can test if a key is in a dictionary or not using the keyword 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Note  that the membership test is only for the keys and not for the values.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“key” in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input_dictionary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6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True/False 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1915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827444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296" y="12954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Write a python program – modify p16.py file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1: create a new file p17.py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2: Use membership operator to test whether the input hostname already exists or not.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3: if it’s exists already, display pop up message “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Sorry your input hostname is exist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463401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Autofit/>
          </a:bodyPr>
          <a:lstStyle/>
          <a:p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Iterating Through a Dictionary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We can iterate through each key in a dictionary using a for loop.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d={“K1”:”V1”,”K2”:”V2”,”K3”:”V3”}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d:</a:t>
            </a:r>
          </a:p>
          <a:p>
            <a:pPr marL="457200" lvl="1" indent="0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715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K1</a:t>
            </a:r>
          </a:p>
          <a:p>
            <a:pPr marL="5715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K2</a:t>
            </a:r>
          </a:p>
          <a:p>
            <a:pPr marL="5715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K3</a:t>
            </a:r>
          </a:p>
          <a:p>
            <a:pPr marL="457200" lvl="1" indent="0">
              <a:buNone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1915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692373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 python program </a:t>
            </a:r>
          </a:p>
          <a:p>
            <a:pPr marL="0" indent="0">
              <a:buNone/>
            </a:pPr>
            <a:r>
              <a:rPr lang="en-US" dirty="0"/>
              <a:t>Step 1 : create a new file p18.py with existing code of p17.py</a:t>
            </a:r>
          </a:p>
          <a:p>
            <a:pPr marL="0" indent="0">
              <a:buNone/>
            </a:pPr>
            <a:r>
              <a:rPr lang="en-US" dirty="0"/>
              <a:t>Step 2: Using for loop – display key /value details </a:t>
            </a:r>
          </a:p>
          <a:p>
            <a:pPr marL="0" indent="0">
              <a:buNone/>
            </a:pPr>
            <a:r>
              <a:rPr lang="en-US" dirty="0"/>
              <a:t>i.e., hostname  and IP-Address details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251842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set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set is an unordered collection of items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Every element is unique (no duplicates) and must be immutable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(which cannot be changed)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Sets can be used to perform mathematical set operations like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union, intersection, symmetric difference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etc.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289015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How to create a set?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 set is created by placing all the items (elements) inside curly braces {}, separated by comma or by using the built-in function </a:t>
            </a: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set().</a:t>
            </a:r>
          </a:p>
          <a:p>
            <a:endParaRPr lang="nn-NO" sz="2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nn-NO" sz="3100" b="1" dirty="0">
                <a:latin typeface="Times New Roman" pitchFamily="18" charset="0"/>
                <a:cs typeface="Times New Roman" pitchFamily="18" charset="0"/>
              </a:rPr>
              <a:t>var={1,2,3,4,"Data1","Data2"}</a:t>
            </a:r>
          </a:p>
          <a:p>
            <a:r>
              <a:rPr lang="nn-NO" sz="3100" b="1" dirty="0">
                <a:latin typeface="Times New Roman" pitchFamily="18" charset="0"/>
                <a:cs typeface="Times New Roman" pitchFamily="18" charset="0"/>
              </a:rPr>
              <a:t>&gt;&gt;&gt; type(var)</a:t>
            </a:r>
          </a:p>
          <a:p>
            <a:r>
              <a:rPr lang="nn-NO" sz="3100" b="1" dirty="0">
                <a:latin typeface="Times New Roman" pitchFamily="18" charset="0"/>
                <a:cs typeface="Times New Roman" pitchFamily="18" charset="0"/>
              </a:rPr>
              <a:t>&lt;class 'set'&gt;</a:t>
            </a:r>
          </a:p>
          <a:p>
            <a:endParaRPr lang="nn-NO" sz="31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nn-NO" sz="3100" b="1" dirty="0">
                <a:latin typeface="Times New Roman" pitchFamily="18" charset="0"/>
                <a:cs typeface="Times New Roman" pitchFamily="18" charset="0"/>
              </a:rPr>
              <a:t>&gt;&gt;&gt; v1=set()</a:t>
            </a:r>
          </a:p>
          <a:p>
            <a:r>
              <a:rPr lang="nn-NO" sz="3100" b="1" dirty="0">
                <a:latin typeface="Times New Roman" pitchFamily="18" charset="0"/>
                <a:cs typeface="Times New Roman" pitchFamily="18" charset="0"/>
              </a:rPr>
              <a:t>&gt;&gt;&gt; type(v1)</a:t>
            </a:r>
          </a:p>
          <a:p>
            <a:r>
              <a:rPr lang="nn-NO" sz="3100" b="1" dirty="0">
                <a:latin typeface="Times New Roman" pitchFamily="18" charset="0"/>
                <a:cs typeface="Times New Roman" pitchFamily="18" charset="0"/>
              </a:rPr>
              <a:t>&lt;class 'set'&gt;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240445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Empty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296" y="1143000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make a set without any elements we use the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 set()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function without any argument.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={}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type(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&lt;class '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'&gt; 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 dictionary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v1=set()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type(v1)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&lt;class 'set'&gt;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(v1)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515819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Every element is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unique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(no duplicates) and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must be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immutable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(which cannot be changed).</a:t>
            </a:r>
          </a:p>
          <a:p>
            <a:r>
              <a:rPr lang="it-IT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&gt;&gt;&gt; v2={10,20,30,10,20,"DATA1","data1","DATA1"}</a:t>
            </a:r>
          </a:p>
          <a:p>
            <a:r>
              <a:rPr lang="it-IT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&gt;&gt;&gt; print(v2)</a:t>
            </a:r>
          </a:p>
          <a:p>
            <a:r>
              <a:rPr lang="it-IT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{10, 'DATA1', 'data1', 20, 30} </a:t>
            </a:r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# there is no duplicate element</a:t>
            </a:r>
            <a:endParaRPr lang="it-IT" sz="24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778194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09600"/>
            <a:ext cx="8229600" cy="505936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cannot access or change an element of set using indexing or slicing. set does not support it.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v2={10,20,30}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type(v2)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&lt;class 'set'&gt;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 v2[0] 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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Traceback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(most recent call last):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File "&lt;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stdin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&gt;", line 1, in &lt;module&gt;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TypeError: 'set' object does not support indexing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 print(v2)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{10, 20, 30}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345050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How to change a set in Python?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set are unordered, indexing have no meaning.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We cannot access or change an element of set using indexing or slicing.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We can add single element using the add() method and multiple elements using the update() method.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 update() method can take tuples, lists, strings or other sets as its argument. 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31160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add()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update()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371600"/>
            <a:ext cx="4040188" cy="47545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v3={"Data1","Data2","Data3"}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(v3)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print(v3)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{'Data1', 'Data2', 'Data3'}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v3.add("Data4")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v3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{'Data1', 'Data2', 'Data4', 'Data3'}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v3.add("Data4")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v3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{'Data1', 'Data2', 'Data4', 'Data3'}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# avoiding duplicate entry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43400" y="1371600"/>
            <a:ext cx="4343400" cy="48307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v4={"Text1","Text2"}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v4.update(["Text3\n","Text4\n","Text5\n"])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v4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{'Text1', 'Text2', 'Text3\n', 'Text5\n', 'Text4\n'}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v4.update(("Text3\n","Text4\n","Text6\n"))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v4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{'Text1', 'Text2', 'Text6\n', 'Text3\n', 'Text5\n', 'Text4\n'}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(v4)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6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817169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62000" y="214853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How to remove elements from a set?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particular item can be removed from set using methods, discard() and remove().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while using discard() if the item does not exist in the set, it remains unchanged.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But remove() will raise an error in such condition.</a:t>
            </a:r>
          </a:p>
          <a:p>
            <a:pPr marL="0" indent="0">
              <a:buNone/>
            </a:pP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888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remove()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discard()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371600"/>
            <a:ext cx="4040188" cy="47545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v3={"Data1","Data2","Data3"}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(v3)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print(v3)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{'Data1', 'Data2', 'Data3'}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v3.remove("Data3")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v3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{'Data1', 'Data2'}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v3.remove("Data7")</a:t>
            </a: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traceback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(most recent call last):</a:t>
            </a: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File "&lt;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stdin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&gt;", line 1, in &lt;module&gt;</a:t>
            </a:r>
          </a:p>
          <a:p>
            <a:pPr marL="0" indent="0">
              <a:buNone/>
            </a:pP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eyError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: 'data7'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43400" y="1371600"/>
            <a:ext cx="43434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v4={"Text1","Text2"}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v4.discard(“Text2”)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v4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{'Text1‘}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v4.discard(“Text5”)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v4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{'Text1’}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494894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Python Set Operations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Sets can be used to carry out mathematical set operations like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union, intersection, difference and symmetric difference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We can do this with operators or methods.</a:t>
            </a:r>
          </a:p>
          <a:p>
            <a:pPr marL="0" indent="0">
              <a:buNone/>
            </a:pPr>
            <a:r>
              <a:rPr lang="pt-BR" dirty="0">
                <a:latin typeface="Times New Roman" pitchFamily="18" charset="0"/>
                <a:cs typeface="Times New Roman" pitchFamily="18" charset="0"/>
              </a:rPr>
              <a:t>A = {1, 2, 3, 4, 5} </a:t>
            </a:r>
          </a:p>
          <a:p>
            <a:pPr marL="0" indent="0">
              <a:buNone/>
            </a:pPr>
            <a:r>
              <a:rPr lang="pt-BR" dirty="0">
                <a:latin typeface="Times New Roman" pitchFamily="18" charset="0"/>
                <a:cs typeface="Times New Roman" pitchFamily="18" charset="0"/>
              </a:rPr>
              <a:t>B = {4, 5, 6, 7, 8}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853716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Set Union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0"/>
            <a:ext cx="4931230" cy="2562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343400" y="1295400"/>
            <a:ext cx="46482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 A={1,2,3,4,5}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 B={1,2,3,6,7,8,9}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A.union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(B)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{1, 2, 3, 4, 5, 6, 7, 8, 9}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B.union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(A)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{1, 2, 3, 4, 5, 6, 7, 8, 9}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&gt;&gt;&gt; A|B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{1, 2, 3, 4, 5, 6, 7, 8, 9}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&gt;&gt;&gt; B|A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{1, 2, 3, 4, 5, 6, 7, 8, 9}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</p:txBody>
      </p:sp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825556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1012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Set Intersection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24012"/>
            <a:ext cx="4333875" cy="360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212771" y="1624012"/>
            <a:ext cx="4572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A={1,2,3,4,5}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B={1,2,3,6,7,8,9}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A&amp;B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{1, 2, 3}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B&amp;A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{1, 2, 3}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A.intersection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(B)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{1, 2, 3}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B.intersection(A)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{1, 2, 3}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227314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Q1. open a python shell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C={“p1.c”,”p2.c”,”p3.java”,”Demo”}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D={“p1.java”,”p1.c”,”p3.java”,”p2.c”,”Demo”,”D1”}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lphaUcParenR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Filter common files from the above two sets</a:t>
            </a:r>
          </a:p>
          <a:p>
            <a:pPr marL="514350" indent="-514350">
              <a:buAutoNum type="alphaUcParenR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Combine both sets into single set and omit duplicate elements.</a:t>
            </a:r>
          </a:p>
          <a:p>
            <a:pPr marL="514350" indent="-514350">
              <a:buAutoNum type="alphaUcParenR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type cast to list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446473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Set Difference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Difference of A and B (A - B) is a set of elements that are only in A but not in B. Similarly, B - A is a set of element in B but not in A.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038600"/>
            <a:ext cx="6105525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431365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set 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A={1,2,3,4,5}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B={1,2,3,6,7,8,9}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A-B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{4, 5}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B-A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{8, 9, 6, 7}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A.difference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(B)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{4, 5}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B.difference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(A)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{8, 9, 6, 7}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362475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Set Symmetric Difference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Symmetric Difference of A and B is a set of elements in both A and B except those that are common in both.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Symmetric difference is performed using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^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operator.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Same can be accomplished using the method 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symmetric_difference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798887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0" y="1524000"/>
            <a:ext cx="8229600" cy="4525963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 A={1,2,3,4,5}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 B={1,2,3,6,7,8,9}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&gt;&gt;&gt; A^B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{4, 5, 6, 7, 8, 9}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&gt;&gt;&gt; B^A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{4, 5, 6, 7, 8, 9}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A.symmetric_difference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(B)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{4, 5, 6, 7, 8, 9}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B.symmetric_difference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(A)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{4, 5, 6, 7, 8, 9}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3495675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66800" y="318052"/>
            <a:ext cx="7162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Set Symmetric Difference</a:t>
            </a:r>
          </a:p>
          <a:p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156464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Predict the result of below set operations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S1={‘data1’,’data2’,’data3’}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S2={‘data2’,’data3’,’data4’,’data5’}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print(S1-S2)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print(S2-S1)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print(S1 ^ S2)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965203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7"/>
          <p:cNvSpPr>
            <a:spLocks noGrp="1"/>
          </p:cNvSpPr>
          <p:nvPr>
            <p:ph type="title"/>
          </p:nvPr>
        </p:nvSpPr>
        <p:spPr>
          <a:xfrm>
            <a:off x="762000" y="30480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Lesson - 7</a:t>
            </a:r>
          </a:p>
        </p:txBody>
      </p:sp>
    </p:spTree>
    <p:extLst>
      <p:ext uri="{BB962C8B-B14F-4D97-AF65-F5344CB8AC3E}">
        <p14:creationId xmlns:p14="http://schemas.microsoft.com/office/powerpoint/2010/main" val="412175568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File Handling</a:t>
            </a:r>
          </a:p>
        </p:txBody>
      </p:sp>
      <p:sp>
        <p:nvSpPr>
          <p:cNvPr id="4" name="AutoShape 2" descr="Keyboard | What is Keyboard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5" descr="Computer storage device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510134"/>
            <a:ext cx="2819400" cy="2111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63258"/>
            <a:ext cx="204683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905000"/>
            <a:ext cx="1304277" cy="1304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091484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Left Arrow 10"/>
          <p:cNvSpPr/>
          <p:nvPr/>
        </p:nvSpPr>
        <p:spPr>
          <a:xfrm>
            <a:off x="2590800" y="2452257"/>
            <a:ext cx="1295400" cy="2355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Arrow 11"/>
          <p:cNvSpPr/>
          <p:nvPr/>
        </p:nvSpPr>
        <p:spPr>
          <a:xfrm rot="10800000">
            <a:off x="5687291" y="2439374"/>
            <a:ext cx="1295400" cy="2355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819400" y="2091484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input()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7400" y="2046336"/>
            <a:ext cx="791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print()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572000" y="3382863"/>
            <a:ext cx="0" cy="983116"/>
          </a:xfrm>
          <a:prstGeom prst="straightConnector1">
            <a:avLst/>
          </a:prstGeom>
          <a:ln w="31750" cmpd="sng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978750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File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Reading data from &lt;FILE&gt;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display to monitor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Create / Write data to FILE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Reading data from &lt;FILE&gt;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Python 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Create/Write data to another FILE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786919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File – read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Open a file =&gt;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fileobject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=open(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inputfile,mode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|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Read content 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fileobject.read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()  /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fileobject.readlines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|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Close a file =&gt;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fileobject.close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() 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09317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File – create/write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Open a file =&gt;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fileobject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=open(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result_file,”w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”)  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                                   # w – write ; a –append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|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Read content 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fileobject.write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 “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InputString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\n”)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|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Close a file =&gt;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fileobject.close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() 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360855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File – read/write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FH=Open(“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inputFile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”,”r”)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WH=open(“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resultFile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”,”w”)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S=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FH.read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WH.write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(S+”\n”)</a:t>
            </a:r>
          </a:p>
          <a:p>
            <a:pPr marL="0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FH.close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WH.close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308827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1: Create a filename  p19.py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2: Read an existing TEXT file from your disk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3: Display file content line by line.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777776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1 : create a filename p20.py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2 : create a new emp.csv file under D:\\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3 : write any 5 sample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csv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content to emp.csv file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4 : close the file 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398164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Write a python program </a:t>
            </a:r>
          </a:p>
          <a:p>
            <a:pPr marL="571500" indent="-571500">
              <a:buAutoNum type="romanLcParenR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create a filename p21.py to demonstrate the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command </a:t>
            </a:r>
          </a:p>
          <a:p>
            <a:pPr marL="571500" indent="-571500">
              <a:buAutoNum type="romanLcParenR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oldfile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newfile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19732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with statement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with open(“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inputFile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”,”r”)  as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fileobject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fileobject.read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() /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fileobject.readlines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with open(“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resultFile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”,”w”) as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fileobject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fileobject.write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(“Single String\n”)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Note :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fileobject.close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()  note required 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552635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570" y="4495800"/>
            <a:ext cx="4953000" cy="152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with open("D:\\test.log") as FH: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with open("D:\\r1.log","w") as WH: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0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sz="20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FH.readlines</a:t>
            </a:r>
            <a:r>
              <a:rPr lang="en-US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():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WH.write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52400" y="1524000"/>
            <a:ext cx="4038600" cy="1371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with open("D:\\test.log") as FH: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s=</a:t>
            </a: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FH.read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print(s)</a:t>
            </a:r>
          </a:p>
          <a:p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152400" y="2971800"/>
            <a:ext cx="4038600" cy="1371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with open("D:\\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result.log“,”w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”) as WH: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WH.write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("data1\n")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WH.write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("data2\n")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WH.write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("data3\n")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Left Arrow 6"/>
          <p:cNvSpPr/>
          <p:nvPr/>
        </p:nvSpPr>
        <p:spPr>
          <a:xfrm>
            <a:off x="4191000" y="1939344"/>
            <a:ext cx="1524000" cy="266700"/>
          </a:xfrm>
          <a:prstGeom prst="lef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791200" y="1834634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Reading data from &lt;FILE&gt;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3006" y="3206234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Create/writing data to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5263634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Read/write operation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4191000" y="3257550"/>
            <a:ext cx="1524000" cy="266700"/>
          </a:xfrm>
          <a:prstGeom prst="lef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Arrow 13"/>
          <p:cNvSpPr/>
          <p:nvPr/>
        </p:nvSpPr>
        <p:spPr>
          <a:xfrm>
            <a:off x="4774842" y="5314950"/>
            <a:ext cx="1524000" cy="266700"/>
          </a:xfrm>
          <a:prstGeom prst="lef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948458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1 : Create a filename p22.py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2 : Use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statement to modify p20.py and p21.py program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458532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86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Write a python program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1 : create a filename p23.py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Given List 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Net=[‘interface=eth0’,’bootproto=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dhcp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’,’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onboot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=none’]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2 : create a new file called property.txt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3 : iterate a given list one by one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4 : write list element into property file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Note : use with statement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255126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493" y="180935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296" y="786353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1 : create a filename: p24.py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 2 : create an empty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dict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3 : read a existing property.txt file (read line by line)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Split each line into multiple values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Key = value 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Add the split  data to existing dictionary 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4: use for loop – display key/value details 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5: modify following operation</a:t>
            </a:r>
          </a:p>
          <a:p>
            <a:pPr marL="0" indent="0">
              <a:buNone/>
            </a:pP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Onboot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-&gt; yes  ;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bootproto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-&gt; static ; </a:t>
            </a:r>
          </a:p>
          <a:p>
            <a:pPr marL="0" indent="0">
              <a:buNone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Add new IP-address ex: IPADDR=10.20.30.40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6: display key/value details (Step 4 )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Step 7: create a new property file( p1.txt)  and write updated dictionary details  in same format.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805909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7"/>
          <p:cNvSpPr txBox="1">
            <a:spLocks/>
          </p:cNvSpPr>
          <p:nvPr/>
        </p:nvSpPr>
        <p:spPr>
          <a:xfrm>
            <a:off x="762000" y="3048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Lesson - 8</a:t>
            </a: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203014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What is a function in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In Python, function is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group of statements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that perform a specific task.</a:t>
            </a:r>
          </a:p>
          <a:p>
            <a:pPr fontAlgn="base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Functions help break our program into smaller and modular chunks.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172312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pPr fontAlgn="base"/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Syntax of Function</a:t>
            </a:r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function_name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(parameters):                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                   """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docstring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""" 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                      statement(s)</a:t>
            </a:r>
          </a:p>
          <a:p>
            <a:pPr algn="just" fontAlgn="base">
              <a:lnSpc>
                <a:spcPct val="17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Keyword 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marks the start of function header.</a:t>
            </a:r>
          </a:p>
          <a:p>
            <a:pPr algn="just" fontAlgn="base">
              <a:lnSpc>
                <a:spcPct val="17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 function name to uniquely identify it. </a:t>
            </a:r>
          </a:p>
          <a:p>
            <a:pPr algn="just" fontAlgn="base">
              <a:lnSpc>
                <a:spcPct val="17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Function naming follows the same rules of writing identifiers in Python.</a:t>
            </a:r>
          </a:p>
          <a:p>
            <a:pPr algn="just" fontAlgn="base">
              <a:lnSpc>
                <a:spcPct val="17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Parameters (arguments) through which we pass values to a function. </a:t>
            </a:r>
          </a:p>
          <a:p>
            <a:pPr algn="just" fontAlgn="base">
              <a:lnSpc>
                <a:spcPct val="17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 colon (:) to mark the end of function header.</a:t>
            </a:r>
          </a:p>
          <a:p>
            <a:pPr algn="just" fontAlgn="base">
              <a:lnSpc>
                <a:spcPct val="17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Optional documentation string 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docstring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 to describe what the function does.</a:t>
            </a:r>
          </a:p>
          <a:p>
            <a:pPr algn="just" fontAlgn="base">
              <a:lnSpc>
                <a:spcPct val="17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One or more valid python statements that make up the function body. Statements must have same indentation level.</a:t>
            </a:r>
          </a:p>
          <a:p>
            <a:pPr algn="just" fontAlgn="base">
              <a:lnSpc>
                <a:spcPct val="17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An optional return statement to return a value from the function.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915311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How to call a function in python?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452596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Once we have defined a function, we can call it from another function, program or even the Python prompt.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 call a function we simply type the function name with appropriate parameters.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function_name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060574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print("Hello I am display block")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type(display)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&lt;class 'function'&gt;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display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&lt;function display at 0x02287108&gt;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display()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Hello I am display block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351924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88392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351703" cy="393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923621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1" y="609600"/>
            <a:ext cx="8153400" cy="505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469739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458200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5429250" y="1066800"/>
            <a:ext cx="2667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2209800" y="4208318"/>
            <a:ext cx="2667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3962400" y="4229100"/>
            <a:ext cx="2667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8305800" y="3297382"/>
            <a:ext cx="3048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10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351703" cy="393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850218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Function call with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10000"/>
          </a:bodyPr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 function call, we can pass any type of values as arguments.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Syntax :-</a:t>
            </a:r>
          </a:p>
          <a:p>
            <a:pPr marL="0" indent="0">
              <a:buNone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function_name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(arg1,arg2,arg3):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     Code block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function_name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(Value1,Value2,Value3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                  # function call with arguments 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84579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Function call with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066800"/>
            <a:ext cx="43434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&gt;&gt;&gt; </a:t>
            </a:r>
            <a:r>
              <a:rPr lang="en-US" sz="1600" b="1" dirty="0" err="1">
                <a:solidFill>
                  <a:srgbClr val="FF0000"/>
                </a:solidFill>
              </a:rPr>
              <a:t>def</a:t>
            </a:r>
            <a:r>
              <a:rPr lang="en-US" sz="1600" b="1" dirty="0">
                <a:solidFill>
                  <a:srgbClr val="FF0000"/>
                </a:solidFill>
              </a:rPr>
              <a:t>   f1(a1,a2):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...              print("Function call with arguments")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...              print(type(a1))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...              print(type(a2))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...              print("Exit from function")</a:t>
            </a:r>
          </a:p>
          <a:p>
            <a:pPr marL="0" indent="0">
              <a:buNone/>
            </a:pPr>
            <a:endParaRPr lang="en-US" sz="1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&gt;&gt;&gt; f1(10,2.45)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Function call with arguments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&lt;class '</a:t>
            </a:r>
            <a:r>
              <a:rPr lang="en-US" sz="1800" dirty="0" err="1">
                <a:solidFill>
                  <a:schemeClr val="tx2"/>
                </a:solidFill>
              </a:rPr>
              <a:t>int</a:t>
            </a:r>
            <a:r>
              <a:rPr lang="en-US" sz="1800" dirty="0">
                <a:solidFill>
                  <a:schemeClr val="tx2"/>
                </a:solidFill>
              </a:rPr>
              <a:t>'&gt;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&lt;class 'float'&gt;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Exit from function</a:t>
            </a:r>
          </a:p>
          <a:p>
            <a:pPr marL="0" indent="0">
              <a:buNone/>
            </a:pPr>
            <a:r>
              <a:rPr lang="en-US" sz="1800" dirty="0"/>
              <a:t>&gt;&gt;&gt;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</a:rPr>
              <a:t>&gt;&gt;&gt; f1("</a:t>
            </a:r>
            <a:r>
              <a:rPr lang="en-US" sz="1800" dirty="0" err="1">
                <a:solidFill>
                  <a:srgbClr val="002060"/>
                </a:solidFill>
              </a:rPr>
              <a:t>abc</a:t>
            </a:r>
            <a:r>
              <a:rPr lang="en-US" sz="1800" dirty="0">
                <a:solidFill>
                  <a:srgbClr val="002060"/>
                </a:solidFill>
              </a:rPr>
              <a:t>",[])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</a:rPr>
              <a:t>Function call with arguments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</a:rPr>
              <a:t>&lt;class '</a:t>
            </a:r>
            <a:r>
              <a:rPr lang="en-US" sz="1800" dirty="0" err="1">
                <a:solidFill>
                  <a:srgbClr val="002060"/>
                </a:solidFill>
              </a:rPr>
              <a:t>str</a:t>
            </a:r>
            <a:r>
              <a:rPr lang="en-US" sz="1800" dirty="0">
                <a:solidFill>
                  <a:srgbClr val="002060"/>
                </a:solidFill>
              </a:rPr>
              <a:t>'&gt;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</a:rPr>
              <a:t>&lt;class 'list'&gt;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</a:rPr>
              <a:t>Exit from function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1000" y="1828800"/>
            <a:ext cx="4648200" cy="4754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&gt;&gt;&gt; f1((),{})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Function call with arguments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&lt;class 'tuple'&gt;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&lt;class '</a:t>
            </a:r>
            <a:r>
              <a:rPr lang="en-US" sz="2000" dirty="0" err="1">
                <a:solidFill>
                  <a:srgbClr val="7030A0"/>
                </a:solidFill>
              </a:rPr>
              <a:t>dict</a:t>
            </a:r>
            <a:r>
              <a:rPr lang="en-US" sz="2000" dirty="0">
                <a:solidFill>
                  <a:srgbClr val="7030A0"/>
                </a:solidFill>
              </a:rPr>
              <a:t>'&gt;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Exit from function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&gt;&gt;&gt;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&gt;&gt;&gt; f1({"S1","S2"},[])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Function call with arguments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&lt;class 'set'&gt;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&lt;class 'list'&gt;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Exit from function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&gt;&gt;&gt;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5" name="Left Arrow 4"/>
          <p:cNvSpPr/>
          <p:nvPr/>
        </p:nvSpPr>
        <p:spPr>
          <a:xfrm>
            <a:off x="1867382" y="2895600"/>
            <a:ext cx="6096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5"/>
          <p:cNvSpPr/>
          <p:nvPr/>
        </p:nvSpPr>
        <p:spPr>
          <a:xfrm>
            <a:off x="1867382" y="4876800"/>
            <a:ext cx="6096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Arrow 6"/>
          <p:cNvSpPr/>
          <p:nvPr/>
        </p:nvSpPr>
        <p:spPr>
          <a:xfrm>
            <a:off x="5562600" y="1905000"/>
            <a:ext cx="6096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7"/>
          <p:cNvSpPr/>
          <p:nvPr/>
        </p:nvSpPr>
        <p:spPr>
          <a:xfrm>
            <a:off x="6553200" y="4114800"/>
            <a:ext cx="7620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952583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Function call with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We  can call a function by using the following types of </a:t>
            </a:r>
          </a:p>
          <a:p>
            <a:pPr marL="0" indent="0"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   formal arguments-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Required arguments  </a:t>
            </a:r>
            <a:r>
              <a:rPr lang="en-US" sz="3600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36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f1(a1,a2,…an)</a:t>
            </a:r>
          </a:p>
          <a:p>
            <a:pPr>
              <a:lnSpc>
                <a:spcPct val="160000"/>
              </a:lnSpc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Default arguments    </a:t>
            </a:r>
            <a:r>
              <a:rPr lang="en-US" sz="3600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36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f2(variable=value)</a:t>
            </a:r>
          </a:p>
          <a:p>
            <a:pPr>
              <a:lnSpc>
                <a:spcPct val="160000"/>
              </a:lnSpc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Variable-length arguments  </a:t>
            </a:r>
            <a:r>
              <a:rPr lang="en-US" sz="3600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36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f3(*</a:t>
            </a:r>
            <a:r>
              <a:rPr lang="en-US" sz="3600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36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Keyword arguments   </a:t>
            </a:r>
            <a:r>
              <a:rPr lang="en-US" sz="3600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36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f4(**</a:t>
            </a:r>
            <a:r>
              <a:rPr lang="en-US" sz="3600" b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kwargs</a:t>
            </a:r>
            <a:r>
              <a:rPr lang="en-US" sz="36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5585425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11162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Function call with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458200" cy="59436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Required Arguments 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Required arguments are the arguments passed to a function in correct positional order.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Here, the number of arguments in the function call should match exactly with the function definition. </a:t>
            </a:r>
          </a:p>
          <a:p>
            <a:pPr marL="0" indent="0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f1(a1,a2):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print("a1 value:{}\ta2 value:{}".format(a1,a2))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f1(10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1.334)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# function call with 2 arguments(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int,float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a1 value:10     a2 value:1.334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f1("AB"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["D1","D2","D3"]) 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# function call with 2 arguments(</a:t>
            </a:r>
            <a:r>
              <a:rPr lang="en-US" sz="2100" b="1" dirty="0" err="1">
                <a:latin typeface="Times New Roman" pitchFamily="18" charset="0"/>
                <a:cs typeface="Times New Roman" pitchFamily="18" charset="0"/>
              </a:rPr>
              <a:t>str,list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a1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value:AB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  a2 value:['D1', 'D2', 'D3']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1187882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Function call with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229600" cy="5334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Default Arguments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default argument is an argument that assumes a default value if a value is not provided in the function call for that argument.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function_name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=value):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code block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78355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Function call with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446" y="104761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f2 (a1=10,a2=2.46):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...     print(a1,a2)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&gt;&gt;&gt; f2() # empty </a:t>
            </a:r>
            <a:r>
              <a:rPr lang="en-US" sz="2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args</a:t>
            </a:r>
            <a:endParaRPr lang="en-US" sz="2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10  2.46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&gt;&gt;&gt; f2("AB") # single </a:t>
            </a:r>
            <a:r>
              <a:rPr lang="en-US" sz="2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args</a:t>
            </a:r>
            <a:endParaRPr lang="en-US" sz="2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 2.46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&gt;&gt;&gt; f2("AB","SAB")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 SAB</a:t>
            </a:r>
          </a:p>
          <a:p>
            <a:pPr marL="0" indent="0">
              <a:buNone/>
            </a:pPr>
            <a:endParaRPr lang="en-US" sz="2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29246" y="3310592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&gt;&gt;&gt; f3("</a:t>
            </a:r>
            <a:r>
              <a:rPr lang="en-US" sz="2400" dirty="0" err="1">
                <a:solidFill>
                  <a:srgbClr val="7030A0"/>
                </a:solidFill>
              </a:rPr>
              <a:t>userA</a:t>
            </a:r>
            <a:r>
              <a:rPr lang="en-US" sz="2400" dirty="0">
                <a:solidFill>
                  <a:srgbClr val="7030A0"/>
                </a:solidFill>
              </a:rPr>
              <a:t>") # single </a:t>
            </a:r>
            <a:r>
              <a:rPr lang="en-US" sz="2400" dirty="0" err="1">
                <a:solidFill>
                  <a:srgbClr val="7030A0"/>
                </a:solidFill>
              </a:rPr>
              <a:t>args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400" dirty="0" err="1">
                <a:solidFill>
                  <a:srgbClr val="7030A0"/>
                </a:solidFill>
              </a:rPr>
              <a:t>userA</a:t>
            </a:r>
            <a:r>
              <a:rPr lang="en-US" sz="2400" dirty="0">
                <a:solidFill>
                  <a:srgbClr val="7030A0"/>
                </a:solidFill>
              </a:rPr>
              <a:t> 22</a:t>
            </a:r>
          </a:p>
          <a:p>
            <a:r>
              <a:rPr lang="en-US" sz="2400" dirty="0">
                <a:solidFill>
                  <a:srgbClr val="7030A0"/>
                </a:solidFill>
              </a:rPr>
              <a:t>&gt;&gt;&gt; f3("userA",120)</a:t>
            </a:r>
          </a:p>
          <a:p>
            <a:r>
              <a:rPr lang="en-US" sz="2400" dirty="0" err="1">
                <a:solidFill>
                  <a:srgbClr val="7030A0"/>
                </a:solidFill>
              </a:rPr>
              <a:t>userA</a:t>
            </a:r>
            <a:r>
              <a:rPr lang="en-US" sz="2400" dirty="0">
                <a:solidFill>
                  <a:srgbClr val="7030A0"/>
                </a:solidFill>
              </a:rPr>
              <a:t> 120</a:t>
            </a:r>
          </a:p>
          <a:p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95800" y="137160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&gt;&gt;&gt; </a:t>
            </a:r>
            <a:r>
              <a:rPr lang="en-US" sz="2400" dirty="0" err="1">
                <a:solidFill>
                  <a:srgbClr val="7030A0"/>
                </a:solidFill>
              </a:rPr>
              <a:t>def</a:t>
            </a:r>
            <a:r>
              <a:rPr lang="en-US" sz="2400" dirty="0">
                <a:solidFill>
                  <a:srgbClr val="7030A0"/>
                </a:solidFill>
              </a:rPr>
              <a:t> f3(user="</a:t>
            </a:r>
            <a:r>
              <a:rPr lang="en-US" sz="2400" dirty="0" err="1">
                <a:solidFill>
                  <a:srgbClr val="7030A0"/>
                </a:solidFill>
              </a:rPr>
              <a:t>root",port</a:t>
            </a:r>
            <a:r>
              <a:rPr lang="en-US" sz="2400" dirty="0">
                <a:solidFill>
                  <a:srgbClr val="7030A0"/>
                </a:solidFill>
              </a:rPr>
              <a:t>=22):</a:t>
            </a:r>
          </a:p>
          <a:p>
            <a:r>
              <a:rPr lang="en-US" sz="2400" dirty="0">
                <a:solidFill>
                  <a:srgbClr val="7030A0"/>
                </a:solidFill>
              </a:rPr>
              <a:t>...     print(</a:t>
            </a:r>
            <a:r>
              <a:rPr lang="en-US" sz="2400" dirty="0" err="1">
                <a:solidFill>
                  <a:srgbClr val="7030A0"/>
                </a:solidFill>
              </a:rPr>
              <a:t>user,port</a:t>
            </a:r>
            <a:r>
              <a:rPr lang="en-US" sz="2400" dirty="0">
                <a:solidFill>
                  <a:srgbClr val="7030A0"/>
                </a:solidFill>
              </a:rPr>
              <a:t>)</a:t>
            </a:r>
          </a:p>
          <a:p>
            <a:r>
              <a:rPr lang="en-US" sz="2400" dirty="0">
                <a:solidFill>
                  <a:srgbClr val="7030A0"/>
                </a:solidFill>
              </a:rPr>
              <a:t>...</a:t>
            </a:r>
          </a:p>
          <a:p>
            <a:r>
              <a:rPr lang="en-US" sz="2400" dirty="0">
                <a:solidFill>
                  <a:srgbClr val="7030A0"/>
                </a:solidFill>
              </a:rPr>
              <a:t>&gt;&gt;&gt; f3() # empty </a:t>
            </a:r>
            <a:r>
              <a:rPr lang="en-US" sz="2400" dirty="0" err="1">
                <a:solidFill>
                  <a:srgbClr val="7030A0"/>
                </a:solidFill>
              </a:rPr>
              <a:t>args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400" dirty="0">
                <a:solidFill>
                  <a:srgbClr val="7030A0"/>
                </a:solidFill>
              </a:rPr>
              <a:t>root 22</a:t>
            </a:r>
          </a:p>
        </p:txBody>
      </p:sp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2086123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90600" y="96228"/>
            <a:ext cx="88392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display (</a:t>
            </a: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user,passwd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"127.0.0.1",</a:t>
            </a: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port=22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print("Login name:{}".format(user))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print("Password:{}".format(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passwd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print("IP-Address:{}".format(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print("PORT Number:{}".format(port))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userA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","Welcome")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# required arguments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Login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name:</a:t>
            </a: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userA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Password:</a:t>
            </a: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Welcome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IP-Address: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127.0.0.1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PORT Number:</a:t>
            </a: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22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("userA","Welcome"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"10.20.30.40"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# required arguments and default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args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Login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name:</a:t>
            </a: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userA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Password:</a:t>
            </a: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Welcome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IP-Address: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10.20.30.40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PORT Number:</a:t>
            </a: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22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("userA","Welcome"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"10.20.30.40"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1240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# required arguments and default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args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Login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name:</a:t>
            </a: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userA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Password:</a:t>
            </a:r>
            <a:r>
              <a:rPr lang="en-US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Welcome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IP-Address: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10.20.30.40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PORT Number:</a:t>
            </a: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1240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4587672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Function call with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Variable-length Arguments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You may need to process a function for more arguments than you specified while defining the function.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These arguments are called variable-length arguments and are not named in  the function definition, unlike required and default arguments.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f1(*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code block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4232195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90600" y="304800"/>
            <a:ext cx="88392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f1(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*a1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):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# variable length arguments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...           print(type(a1))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...           print(a1)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 f1()   # call with empty argument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&lt;class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'tuple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'&gt;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 f1(10,2.34,"data")  # call with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args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&lt;class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'tuple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'&gt;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(10, 2.34, 'data')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 f1(10,2.34,"data",["D1","D2","D3"])  # call with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args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&lt;class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'tuple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'&gt;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(10, 2.34, 'data', ['D1', 'D2', 'D3'])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429787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286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f1(a1,a2=100,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a3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# required args,defaultargs,variablelength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args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...             print("A1:{}".format(a1)) # required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args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...             print("A2:{}".format(a2)) # default value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...             print("A3:{}".format(a3)) # variable length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tuple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 f1("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")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A1:ab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A2:100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A3: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 f1("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","Test")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A1:ab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A2:Test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A3: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&gt;&gt;&gt; f1("ab","Test","report1","report2","report3")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A1:ab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A2:Test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A3: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('report1', 'report2', 'report3')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803758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Function call with arguments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8229600" cy="452596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Keyword Arguments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Keyword arguments are related to the function calls. When you use keyword arguments in a function call, the caller identifies the arguments by the parameter name.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This allows you to skip arguments or place them out of order because the Python interpreter is able to use the keywords provided to match the values with parameters.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116313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35579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Function call with arguments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Keyword Arguments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f1(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**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kwargs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code block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f1(variable=value)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3269341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011" y="152400"/>
            <a:ext cx="8229600" cy="5897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f1(</a:t>
            </a: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**a1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# keyword arguments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...          print(type(a1))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...          print(a1)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 f1() # empty argument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&lt;class </a:t>
            </a: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1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'&gt;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{}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 f1(</a:t>
            </a: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name="root",</a:t>
            </a:r>
            <a:r>
              <a:rPr lang="en-US" sz="1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en-US" sz="1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",user="root")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# keyword arguments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&lt;class '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'&gt;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{'name': 'root', '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': '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', 'user': 'root'}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f1</a:t>
            </a: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**</a:t>
            </a:r>
            <a:r>
              <a:rPr lang="en-US" sz="1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kwargs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...           for v in </a:t>
            </a:r>
            <a:r>
              <a:rPr lang="en-US" sz="1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kwargs.keys</a:t>
            </a: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...                 print("{}\t{}".format(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v,</a:t>
            </a:r>
            <a:r>
              <a:rPr lang="en-US" sz="1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kwargs</a:t>
            </a: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[v]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))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&gt;&gt;&gt; f1(name="root",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",user="root")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# keyword arguments</a:t>
            </a:r>
          </a:p>
          <a:p>
            <a:pPr marL="0" indent="0">
              <a:buNone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name    root</a:t>
            </a:r>
          </a:p>
          <a:p>
            <a:pPr marL="0" indent="0">
              <a:buNone/>
            </a:pP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mysql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user    root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551007" cy="615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6224375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7569" y="152400"/>
            <a:ext cx="8229600" cy="59737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display(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,a2=100,*a3,**a4):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       print(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# required argument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       print(a2) # default argument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       print(a3) # variable length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args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       print(a4) # keyword argument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display("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") # required argument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AB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100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display("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","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TEST1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") </a:t>
            </a:r>
            <a:r>
              <a:rPr lang="en-US" sz="2900" b="1" dirty="0">
                <a:latin typeface="Times New Roman" pitchFamily="18" charset="0"/>
                <a:cs typeface="Times New Roman" pitchFamily="18" charset="0"/>
              </a:rPr>
              <a:t># required and default argument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AB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TEST1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display("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","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TEST1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",</a:t>
            </a: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"TEST2","TEST3","TEST4"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AB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TEST1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('TEST2', 'TEST3', 'TEST4')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{}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05200" y="5105400"/>
            <a:ext cx="6290841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display </a:t>
            </a:r>
            <a:r>
              <a:rPr lang="en-US" sz="1200" dirty="0"/>
              <a:t>("</a:t>
            </a:r>
            <a:r>
              <a:rPr lang="en-US" sz="1200" b="1" dirty="0">
                <a:solidFill>
                  <a:srgbClr val="0070C0"/>
                </a:solidFill>
              </a:rPr>
              <a:t>AB</a:t>
            </a:r>
            <a:r>
              <a:rPr lang="en-US" sz="1200" dirty="0"/>
              <a:t>","</a:t>
            </a:r>
            <a:r>
              <a:rPr lang="en-US" sz="1200" dirty="0">
                <a:solidFill>
                  <a:srgbClr val="FF0000"/>
                </a:solidFill>
              </a:rPr>
              <a:t>Test1</a:t>
            </a:r>
            <a:r>
              <a:rPr lang="en-US" sz="1200" dirty="0"/>
              <a:t>",</a:t>
            </a:r>
            <a:r>
              <a:rPr lang="en-US" sz="1200" dirty="0">
                <a:solidFill>
                  <a:srgbClr val="7030A0"/>
                </a:solidFill>
              </a:rPr>
              <a:t>"Test2","Test3","Test4</a:t>
            </a:r>
            <a:r>
              <a:rPr lang="en-US" sz="1200" dirty="0"/>
              <a:t>",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user="root",</a:t>
            </a:r>
            <a:r>
              <a:rPr lang="en-US" sz="1200" b="1" dirty="0" err="1">
                <a:solidFill>
                  <a:schemeClr val="accent6">
                    <a:lumMod val="75000"/>
                  </a:schemeClr>
                </a:solidFill>
              </a:rPr>
              <a:t>passwd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="</a:t>
            </a:r>
            <a:r>
              <a:rPr lang="en-US" sz="1200" b="1" dirty="0" err="1">
                <a:solidFill>
                  <a:schemeClr val="accent6">
                    <a:lumMod val="75000"/>
                  </a:schemeClr>
                </a:solidFill>
              </a:rPr>
              <a:t>Welcome",port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=80</a:t>
            </a:r>
            <a:r>
              <a:rPr lang="en-US" sz="1200" dirty="0"/>
              <a:t>)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AB</a:t>
            </a:r>
          </a:p>
          <a:p>
            <a:r>
              <a:rPr lang="en-US" sz="1600" dirty="0">
                <a:solidFill>
                  <a:srgbClr val="FF0000"/>
                </a:solidFill>
              </a:rPr>
              <a:t>Test1</a:t>
            </a:r>
          </a:p>
          <a:p>
            <a:r>
              <a:rPr lang="en-US" sz="1600" b="1" dirty="0">
                <a:solidFill>
                  <a:srgbClr val="7030A0"/>
                </a:solidFill>
              </a:rPr>
              <a:t>('Test2', 'Test3', 'Test4')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{'user': 'root', '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</a:rPr>
              <a:t>passwd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': 'Welcome', 'port': 80}</a:t>
            </a:r>
          </a:p>
          <a:p>
            <a:r>
              <a:rPr lang="en-US" sz="1600" dirty="0"/>
              <a:t>&gt;&gt;&gt;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374065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344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Scope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count=1 # Script section</a:t>
            </a:r>
          </a:p>
          <a:p>
            <a:pPr marL="0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f1():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print("From function definition:{}"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format(count))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port=80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# default scope is local scope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print("PORT Number:{}"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format(port))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f1()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# function call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From function definition:1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PORT Number:80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port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variable port is not defined in script section</a:t>
            </a:r>
            <a:endParaRPr lang="en-US" sz="2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Traceback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(most recent call last):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File "&lt;</a:t>
            </a:r>
            <a:r>
              <a:rPr lang="en-US" sz="2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stdin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&gt;", line 1, in &lt;module&gt;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NameError: name 'port' is not defined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&gt;&gt;&gt;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124200"/>
            <a:ext cx="2971439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1197518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global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08037"/>
            <a:ext cx="8229600" cy="53641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global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keyword is a keyword that allows a user to modify a variable outside of the current scope.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global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keyword is used inside a function only when we want to do assignments or when we want to change a variable.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7904878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296" y="21465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Rules of global keyword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/>
          </a:bodyPr>
          <a:lstStyle/>
          <a:p>
            <a:pPr fontAlgn="base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a variable is assigned a value anywhere within the function’s body, it’s assumed to be a local unless explicitly declared as global.</a:t>
            </a:r>
          </a:p>
          <a:p>
            <a:pPr fontAlgn="base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Variables that are only referenced inside a function are implicitly global.</a:t>
            </a:r>
          </a:p>
          <a:p>
            <a:pPr fontAlgn="base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Use global keyword to use a global variable inside a function.</a:t>
            </a:r>
          </a:p>
          <a:p>
            <a:pPr fontAlgn="base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is no need to use global keyword outside a function.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441960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&gt;&gt;&gt; </a:t>
            </a:r>
            <a:r>
              <a:rPr lang="en-US" dirty="0" err="1"/>
              <a:t>def</a:t>
            </a:r>
            <a:r>
              <a:rPr lang="en-US" dirty="0"/>
              <a:t> f1():</a:t>
            </a:r>
          </a:p>
          <a:p>
            <a:r>
              <a:rPr lang="en-US" dirty="0"/>
              <a:t>...     </a:t>
            </a:r>
            <a:r>
              <a:rPr lang="en-US" b="1" dirty="0"/>
              <a:t>global port</a:t>
            </a:r>
          </a:p>
          <a:p>
            <a:r>
              <a:rPr lang="en-US" dirty="0"/>
              <a:t>...     port=80</a:t>
            </a:r>
          </a:p>
          <a:p>
            <a:r>
              <a:rPr lang="en-US" dirty="0"/>
              <a:t>...</a:t>
            </a:r>
          </a:p>
          <a:p>
            <a:r>
              <a:rPr lang="en-US" dirty="0"/>
              <a:t>&gt;&gt;&gt; f1() # function call</a:t>
            </a:r>
          </a:p>
          <a:p>
            <a:r>
              <a:rPr lang="en-US" b="1" dirty="0"/>
              <a:t>&gt;&gt;&gt; print(port) # global value</a:t>
            </a:r>
          </a:p>
          <a:p>
            <a:r>
              <a:rPr lang="en-US" b="1" dirty="0"/>
              <a:t>80</a:t>
            </a:r>
          </a:p>
          <a:p>
            <a:r>
              <a:rPr lang="en-US" dirty="0"/>
              <a:t>&gt;&gt;&gt;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423589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return statement is used to end the execution of the function call and “returns” the result (value of the expression following the return keyword) to the caller. 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statement can not be used outside the function.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python default  return value is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None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7218" y="4495800"/>
            <a:ext cx="613458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f1():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print("Hello")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=f1()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Hello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rv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== None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True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6354386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python supports all types of return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38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def</a:t>
            </a:r>
            <a:r>
              <a:rPr lang="en-US" sz="1400" dirty="0"/>
              <a:t> f1():</a:t>
            </a:r>
          </a:p>
          <a:p>
            <a:pPr marL="0" indent="0">
              <a:buNone/>
            </a:pPr>
            <a:r>
              <a:rPr lang="en-US" sz="1400" dirty="0"/>
              <a:t>...     return "</a:t>
            </a:r>
            <a:r>
              <a:rPr lang="en-US" sz="1400" dirty="0" err="1"/>
              <a:t>abc</a:t>
            </a:r>
            <a:r>
              <a:rPr lang="en-US" sz="1400" dirty="0"/>
              <a:t>"  </a:t>
            </a:r>
            <a:r>
              <a:rPr lang="en-US" sz="1400" b="1" dirty="0"/>
              <a:t># string</a:t>
            </a:r>
          </a:p>
          <a:p>
            <a:pPr marL="0" indent="0">
              <a:buNone/>
            </a:pPr>
            <a:r>
              <a:rPr lang="en-US" sz="1400" dirty="0"/>
              <a:t>...</a:t>
            </a:r>
          </a:p>
          <a:p>
            <a:pPr marL="0" indent="0">
              <a:buNone/>
            </a:pPr>
            <a:r>
              <a:rPr lang="en-US" sz="1400" dirty="0"/>
              <a:t>&gt;&gt;&gt; f1()</a:t>
            </a:r>
          </a:p>
          <a:p>
            <a:pPr marL="0" indent="0">
              <a:buNone/>
            </a:pPr>
            <a:r>
              <a:rPr lang="en-US" sz="1400" dirty="0"/>
              <a:t>'</a:t>
            </a:r>
            <a:r>
              <a:rPr lang="en-US" sz="1400" dirty="0" err="1"/>
              <a:t>abc</a:t>
            </a:r>
            <a:r>
              <a:rPr lang="en-US" sz="1400" dirty="0"/>
              <a:t>‘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def</a:t>
            </a:r>
            <a:r>
              <a:rPr lang="en-US" sz="1400" dirty="0"/>
              <a:t> f2():</a:t>
            </a:r>
          </a:p>
          <a:p>
            <a:pPr marL="0" indent="0">
              <a:buNone/>
            </a:pPr>
            <a:r>
              <a:rPr lang="en-US" sz="1400" dirty="0"/>
              <a:t>...     return 1.355 </a:t>
            </a:r>
            <a:r>
              <a:rPr lang="en-US" sz="1400" b="1" dirty="0"/>
              <a:t># float</a:t>
            </a:r>
          </a:p>
          <a:p>
            <a:pPr marL="0" indent="0">
              <a:buNone/>
            </a:pPr>
            <a:r>
              <a:rPr lang="en-US" sz="1400" dirty="0"/>
              <a:t>...</a:t>
            </a:r>
          </a:p>
          <a:p>
            <a:pPr marL="0" indent="0">
              <a:buNone/>
            </a:pPr>
            <a:r>
              <a:rPr lang="en-US" sz="1400" dirty="0"/>
              <a:t>&gt;&gt;&gt; f2()</a:t>
            </a:r>
          </a:p>
          <a:p>
            <a:pPr marL="0" indent="0">
              <a:buNone/>
            </a:pPr>
            <a:r>
              <a:rPr lang="en-US" sz="1400" dirty="0"/>
              <a:t>1.355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def</a:t>
            </a:r>
            <a:r>
              <a:rPr lang="en-US" sz="1400" dirty="0"/>
              <a:t> f3():</a:t>
            </a:r>
          </a:p>
          <a:p>
            <a:pPr marL="0" indent="0">
              <a:buNone/>
            </a:pPr>
            <a:r>
              <a:rPr lang="en-US" sz="1400" dirty="0"/>
              <a:t>...     return True </a:t>
            </a:r>
            <a:r>
              <a:rPr lang="en-US" sz="1400" b="1" dirty="0"/>
              <a:t># boolean</a:t>
            </a:r>
          </a:p>
          <a:p>
            <a:pPr marL="0" indent="0">
              <a:buNone/>
            </a:pPr>
            <a:r>
              <a:rPr lang="en-US" sz="1400" dirty="0"/>
              <a:t>...</a:t>
            </a:r>
          </a:p>
          <a:p>
            <a:pPr marL="0" indent="0">
              <a:buNone/>
            </a:pPr>
            <a:r>
              <a:rPr lang="en-US" sz="1400" dirty="0"/>
              <a:t>&gt;&gt;&gt; f3()</a:t>
            </a:r>
          </a:p>
          <a:p>
            <a:pPr marL="0" indent="0">
              <a:buNone/>
            </a:pPr>
            <a:r>
              <a:rPr lang="en-US" sz="1400" dirty="0"/>
              <a:t>True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&gt;&gt;&gt; </a:t>
            </a:r>
            <a:r>
              <a:rPr lang="en-US" sz="1400" dirty="0" err="1"/>
              <a:t>def</a:t>
            </a:r>
            <a:r>
              <a:rPr lang="en-US" sz="1400" dirty="0"/>
              <a:t> f4():</a:t>
            </a:r>
          </a:p>
          <a:p>
            <a:pPr marL="0" indent="0">
              <a:buNone/>
            </a:pPr>
            <a:r>
              <a:rPr lang="en-US" sz="1400" dirty="0"/>
              <a:t>...     return ["D1","D2","D3"] </a:t>
            </a:r>
            <a:r>
              <a:rPr lang="en-US" sz="1400" b="1" dirty="0"/>
              <a:t># list</a:t>
            </a:r>
          </a:p>
          <a:p>
            <a:pPr marL="0" indent="0">
              <a:buNone/>
            </a:pPr>
            <a:r>
              <a:rPr lang="en-US" sz="1400" dirty="0"/>
              <a:t>...</a:t>
            </a:r>
          </a:p>
          <a:p>
            <a:pPr marL="0" indent="0">
              <a:buNone/>
            </a:pPr>
            <a:r>
              <a:rPr lang="en-US" sz="1400" dirty="0"/>
              <a:t>&gt;&gt;&gt; f4()</a:t>
            </a:r>
          </a:p>
          <a:p>
            <a:pPr marL="0" indent="0">
              <a:buNone/>
            </a:pPr>
            <a:r>
              <a:rPr lang="en-US" sz="1400" dirty="0"/>
              <a:t>['D1', 'D2', 'D3']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914400"/>
            <a:ext cx="4038600" cy="5486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def</a:t>
            </a:r>
            <a:r>
              <a:rPr lang="en-US" sz="1600" dirty="0"/>
              <a:t> f5():</a:t>
            </a:r>
          </a:p>
          <a:p>
            <a:pPr marL="0" indent="0">
              <a:buNone/>
            </a:pPr>
            <a:r>
              <a:rPr lang="en-US" sz="1600" dirty="0"/>
              <a:t>...     return ("T1","T2") </a:t>
            </a:r>
            <a:r>
              <a:rPr lang="en-US" sz="1600" b="1" dirty="0"/>
              <a:t># tuple </a:t>
            </a:r>
          </a:p>
          <a:p>
            <a:pPr marL="0" indent="0">
              <a:buNone/>
            </a:pPr>
            <a:r>
              <a:rPr lang="en-US" sz="1600" dirty="0"/>
              <a:t>...</a:t>
            </a:r>
          </a:p>
          <a:p>
            <a:pPr marL="0" indent="0">
              <a:buNone/>
            </a:pPr>
            <a:r>
              <a:rPr lang="en-US" sz="1600" dirty="0"/>
              <a:t>&gt;&gt;&gt; f5()</a:t>
            </a:r>
          </a:p>
          <a:p>
            <a:pPr marL="0" indent="0">
              <a:buNone/>
            </a:pPr>
            <a:r>
              <a:rPr lang="en-US" sz="1600" dirty="0"/>
              <a:t>('T1', 'T2')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def</a:t>
            </a:r>
            <a:r>
              <a:rPr lang="en-US" sz="1600" dirty="0"/>
              <a:t> f6():</a:t>
            </a:r>
          </a:p>
          <a:p>
            <a:pPr marL="0" indent="0">
              <a:buNone/>
            </a:pPr>
            <a:r>
              <a:rPr lang="en-US" sz="1600" dirty="0"/>
              <a:t>...     return {"K1":"V1","K2":"V2"} </a:t>
            </a:r>
            <a:r>
              <a:rPr lang="en-US" sz="1600" b="1" dirty="0"/>
              <a:t># </a:t>
            </a:r>
            <a:r>
              <a:rPr lang="en-US" sz="1600" b="1" dirty="0" err="1"/>
              <a:t>dict</a:t>
            </a:r>
            <a:r>
              <a:rPr lang="en-US" sz="1600" b="1" dirty="0"/>
              <a:t> </a:t>
            </a:r>
          </a:p>
          <a:p>
            <a:pPr marL="0" indent="0">
              <a:buNone/>
            </a:pPr>
            <a:r>
              <a:rPr lang="en-US" sz="1600" dirty="0"/>
              <a:t>...</a:t>
            </a:r>
          </a:p>
          <a:p>
            <a:pPr marL="0" indent="0">
              <a:buNone/>
            </a:pPr>
            <a:r>
              <a:rPr lang="en-US" sz="1600" dirty="0"/>
              <a:t>&gt;&gt;&gt; f6()</a:t>
            </a:r>
          </a:p>
          <a:p>
            <a:pPr marL="0" indent="0">
              <a:buNone/>
            </a:pPr>
            <a:r>
              <a:rPr lang="en-US" sz="1600" dirty="0"/>
              <a:t>{'K1': 'V1', 'K2': 'V2'}</a:t>
            </a:r>
          </a:p>
          <a:p>
            <a:pPr marL="0" indent="0">
              <a:buNone/>
            </a:pPr>
            <a:r>
              <a:rPr lang="en-US" sz="1600" dirty="0"/>
              <a:t>&gt;&gt;&gt;</a:t>
            </a:r>
          </a:p>
          <a:p>
            <a:pPr marL="0" indent="0">
              <a:buNone/>
            </a:pPr>
            <a:r>
              <a:rPr lang="en-US" sz="1600" dirty="0"/>
              <a:t>&gt;&gt;&gt; </a:t>
            </a:r>
            <a:r>
              <a:rPr lang="en-US" sz="1600" dirty="0" err="1"/>
              <a:t>def</a:t>
            </a:r>
            <a:r>
              <a:rPr lang="en-US" sz="1600" dirty="0"/>
              <a:t> f7():</a:t>
            </a:r>
          </a:p>
          <a:p>
            <a:pPr marL="0" indent="0">
              <a:buNone/>
            </a:pPr>
            <a:r>
              <a:rPr lang="en-US" sz="1600" dirty="0"/>
              <a:t>...     return {"K1","K2",12,3,4,5.45} </a:t>
            </a:r>
            <a:r>
              <a:rPr lang="en-US" sz="1600" b="1" dirty="0"/>
              <a:t># set</a:t>
            </a:r>
          </a:p>
          <a:p>
            <a:pPr marL="0" indent="0">
              <a:buNone/>
            </a:pPr>
            <a:r>
              <a:rPr lang="en-US" sz="1600" dirty="0"/>
              <a:t>...</a:t>
            </a:r>
          </a:p>
          <a:p>
            <a:pPr marL="0" indent="0">
              <a:buNone/>
            </a:pPr>
            <a:r>
              <a:rPr lang="en-US" sz="1600" dirty="0"/>
              <a:t>&gt;&gt;&gt; f7()</a:t>
            </a:r>
          </a:p>
          <a:p>
            <a:pPr marL="0" indent="0">
              <a:buNone/>
            </a:pPr>
            <a:r>
              <a:rPr lang="en-US" sz="1600" dirty="0"/>
              <a:t>{3, 4, 'K2', 12, 'K1', 5.45}</a:t>
            </a:r>
          </a:p>
          <a:p>
            <a:pPr marL="0" indent="0">
              <a:buNone/>
            </a:pPr>
            <a:r>
              <a:rPr lang="en-US" sz="1600" dirty="0"/>
              <a:t>&gt;&gt;&gt;</a:t>
            </a:r>
          </a:p>
          <a:p>
            <a:endParaRPr lang="en-US" sz="1600" dirty="0"/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436519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Returning Multiple Values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533401"/>
            <a:ext cx="8229600" cy="198119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 Python, we can return multiple values from a function.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 python function returns more than one value means the default type will be tuple(immutable).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362200"/>
            <a:ext cx="7391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f1():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...     return 10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 type(f1())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&lt;class '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'&gt;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f1():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...     return 10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# more than one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value,separated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by ,(comma)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 type(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f1()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&lt;class 'tuple'&gt;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</a:t>
            </a:r>
          </a:p>
        </p:txBody>
      </p:sp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3934910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365271"/>
            <a:ext cx="8229600" cy="5973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f1():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...         return 10,3.45,"ab",["D1","D2"],("T1","T2"),{"K1":"V"}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type(f1())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&lt;class 'tuple'&gt;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&gt;&gt;&gt; f1()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(10, 3.45, '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', ['D1', 'D2'], ('T1', 'T2'), {'K1': 'V'})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2686672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 - identify the errors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754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Q1.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f1(a1,a2):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print("Hello")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f1(10,20,None)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Q2.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f2(a1,a2,a3=0,a4):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print("Hello")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f2(100,200,300,400)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267200" cy="52578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Q3.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f3(a1,a2,a3=0):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print("Hello")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f3(10)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Q4.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f4(a1,a2=0,*a3,*a4):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print("Hello")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f4(10)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Q5.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f5(**a2,*a3):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print("Hello")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f5()</a:t>
            </a:r>
          </a:p>
          <a:p>
            <a:endParaRPr lang="en-US" dirty="0"/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427387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Step 1: create a filename p25.py file by modifying p24.py 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Step 2: Convert each step into separate function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Note: Declare local variable inside the function and return the processed value</a:t>
            </a: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3449351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22098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Lesson - 9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9354627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76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b="1" dirty="0">
                <a:latin typeface="Times New Roman" pitchFamily="18" charset="0"/>
                <a:cs typeface="Times New Roman" pitchFamily="18" charset="0"/>
              </a:rPr>
              <a:t>Python Modules</a:t>
            </a:r>
          </a:p>
        </p:txBody>
      </p:sp>
      <p:sp>
        <p:nvSpPr>
          <p:cNvPr id="118786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/>
          </a:bodyPr>
          <a:lstStyle/>
          <a:p>
            <a:pPr marL="364326" indent="-269284">
              <a:lnSpc>
                <a:spcPct val="200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Python module is  existing python source file </a:t>
            </a:r>
          </a:p>
          <a:p>
            <a:pPr marL="364326" indent="-269284">
              <a:lnSpc>
                <a:spcPct val="200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Filename extension must be .</a:t>
            </a: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py</a:t>
            </a:r>
            <a:endParaRPr lang="en-GB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200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A module can also include runnable code.</a:t>
            </a:r>
          </a:p>
          <a:p>
            <a:pPr marL="364326" indent="-269284">
              <a:lnSpc>
                <a:spcPct val="200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Reusability </a:t>
            </a:r>
            <a:endParaRPr lang="en-GB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76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GB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02194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44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b="1" dirty="0">
                <a:latin typeface="Times New Roman" pitchFamily="18" charset="0"/>
                <a:cs typeface="Times New Roman" pitchFamily="18" charset="0"/>
              </a:rPr>
              <a:t>Module basics</a:t>
            </a:r>
          </a:p>
        </p:txBody>
      </p:sp>
      <p:sp>
        <p:nvSpPr>
          <p:cNvPr id="154627" name="Rectangle 2"/>
          <p:cNvSpPr>
            <a:spLocks noGrp="1" noChangeArrowheads="1"/>
          </p:cNvSpPr>
          <p:nvPr>
            <p:ph idx="1"/>
          </p:nvPr>
        </p:nvSpPr>
        <p:spPr>
          <a:xfrm>
            <a:off x="428541" y="1371600"/>
            <a:ext cx="8229600" cy="4525963"/>
          </a:xfrm>
        </p:spPr>
        <p:txBody>
          <a:bodyPr>
            <a:normAutofit lnSpcReduction="10000"/>
          </a:bodyPr>
          <a:lstStyle/>
          <a:p>
            <a:pPr marL="364326" indent="-269284">
              <a:lnSpc>
                <a:spcPct val="150000"/>
              </a:lnSpc>
              <a:buSzPct val="45000"/>
              <a:buFont typeface="Wingdings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</a:pP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Each file in Python is considered a module.  </a:t>
            </a:r>
          </a:p>
          <a:p>
            <a:pPr marL="364326" indent="-269284">
              <a:lnSpc>
                <a:spcPct val="150000"/>
              </a:lnSpc>
              <a:buSzPct val="45000"/>
              <a:buFont typeface="Wingdings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</a:pP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Everything within the file is encapsulated within a namespace (which is the name of the file)</a:t>
            </a:r>
            <a:r>
              <a:rPr lang="ar-SA" altLang="en-US" sz="2800" dirty="0">
                <a:latin typeface="Times New Roman" pitchFamily="18" charset="0"/>
                <a:cs typeface="Times New Roman" pitchFamily="18" charset="0"/>
              </a:rPr>
              <a:t>‏</a:t>
            </a:r>
            <a:endParaRPr lang="en-GB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150000"/>
              </a:lnSpc>
              <a:buSzPct val="45000"/>
              <a:buFont typeface="Wingdings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</a:pP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To access code in another module (file), import that file, and then access the functions or data of that module by prefixing with the name of the module, followed by a period.</a:t>
            </a:r>
          </a:p>
          <a:p>
            <a:pPr marL="364326" indent="-269284">
              <a:lnSpc>
                <a:spcPct val="150000"/>
              </a:lnSpc>
              <a:buSzPct val="45000"/>
              <a:buFont typeface="Wingdings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</a:pPr>
            <a:endParaRPr lang="en-GB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66106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0" y="76200"/>
            <a:ext cx="3276600" cy="3657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File : ab.py</a:t>
            </a:r>
          </a:p>
          <a:p>
            <a:pPr marL="0" indent="0">
              <a:buNone/>
            </a:pPr>
            <a:r>
              <a:rPr lang="en-US" dirty="0"/>
              <a:t>=============</a:t>
            </a:r>
          </a:p>
          <a:p>
            <a:pPr marL="0" indent="0">
              <a:buNone/>
            </a:pPr>
            <a:r>
              <a:rPr lang="en-US" dirty="0"/>
              <a:t>port=80</a:t>
            </a:r>
          </a:p>
          <a:p>
            <a:pPr marL="0" indent="0">
              <a:buNone/>
            </a:pPr>
            <a:r>
              <a:rPr lang="en-US" dirty="0"/>
              <a:t>service=“</a:t>
            </a:r>
            <a:r>
              <a:rPr lang="en-US" dirty="0" err="1"/>
              <a:t>httpd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fx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	return 10</a:t>
            </a:r>
          </a:p>
          <a:p>
            <a:pPr marL="0" indent="0">
              <a:buNone/>
            </a:pPr>
            <a:r>
              <a:rPr lang="en-US" dirty="0"/>
              <a:t>==============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H="1">
            <a:off x="2667000" y="3505200"/>
            <a:ext cx="6096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343400" y="3505200"/>
            <a:ext cx="0" cy="10920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12004" y="4622442"/>
            <a:ext cx="21979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File : p1.py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print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ab.port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62400" y="4668608"/>
            <a:ext cx="2207656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File:  p2.py</a:t>
            </a:r>
          </a:p>
          <a:p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ab.port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ab.service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863055" y="4343400"/>
            <a:ext cx="33120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File: p3.py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rv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ab.fx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print(“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rv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={}”.format(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rv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))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257800" y="3505200"/>
            <a:ext cx="912256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932701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44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What import does</a:t>
            </a:r>
          </a:p>
        </p:txBody>
      </p:sp>
      <p:sp>
        <p:nvSpPr>
          <p:cNvPr id="156675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</a:pPr>
            <a:r>
              <a:rPr lang="en-GB" altLang="en-US" sz="2500" dirty="0">
                <a:latin typeface="Times New Roman" pitchFamily="18" charset="0"/>
                <a:cs typeface="Times New Roman" pitchFamily="18" charset="0"/>
              </a:rPr>
              <a:t>An import statement does three things:</a:t>
            </a:r>
            <a:br>
              <a:rPr lang="en-GB" altLang="en-US" sz="25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5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95042" indent="0">
              <a:lnSpc>
                <a:spcPct val="150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</a:pPr>
            <a:r>
              <a:rPr lang="en-GB" altLang="en-US" sz="2500" dirty="0">
                <a:latin typeface="Times New Roman" pitchFamily="18" charset="0"/>
                <a:cs typeface="Times New Roman" pitchFamily="18" charset="0"/>
              </a:rPr>
              <a:t>- Finds the file for the given module </a:t>
            </a:r>
            <a:br>
              <a:rPr lang="en-GB" altLang="en-US" sz="25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500" dirty="0">
                <a:latin typeface="Times New Roman" pitchFamily="18" charset="0"/>
                <a:cs typeface="Times New Roman" pitchFamily="18" charset="0"/>
              </a:rPr>
              <a:t>- Compiles it to byte code</a:t>
            </a:r>
            <a:br>
              <a:rPr lang="en-GB" altLang="en-US" sz="25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500" dirty="0">
                <a:latin typeface="Times New Roman" pitchFamily="18" charset="0"/>
                <a:cs typeface="Times New Roman" pitchFamily="18" charset="0"/>
              </a:rPr>
              <a:t>- Runs the module's code to build any objects (top-level code, e.g., variable initialization)</a:t>
            </a:r>
            <a:r>
              <a:rPr lang="ar-SA" altLang="en-US" sz="2500" dirty="0">
                <a:latin typeface="Times New Roman" pitchFamily="18" charset="0"/>
                <a:cs typeface="Times New Roman" pitchFamily="18" charset="0"/>
              </a:rPr>
              <a:t>‏</a:t>
            </a:r>
            <a:endParaRPr lang="en-GB" altLang="en-US" sz="25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</a:pPr>
            <a:endParaRPr lang="en-GB" altLang="en-US" sz="25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</a:pPr>
            <a:r>
              <a:rPr lang="en-GB" altLang="en-US" sz="2500" dirty="0" err="1">
                <a:latin typeface="Times New Roman" pitchFamily="18" charset="0"/>
                <a:cs typeface="Times New Roman" pitchFamily="18" charset="0"/>
              </a:rPr>
              <a:t>env</a:t>
            </a:r>
            <a:r>
              <a:rPr lang="en-GB" altLang="en-US" sz="2500" dirty="0">
                <a:latin typeface="Times New Roman" pitchFamily="18" charset="0"/>
                <a:cs typeface="Times New Roman" pitchFamily="18" charset="0"/>
              </a:rPr>
              <a:t> variable  PYTHONPATH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44201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1: Create a new file p26.py by modifying p25.py file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2: remove all function calls.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3: open a python shell  and import p26.py file into current working shell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Use help() – understand module docs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4028481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44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Python standard library</a:t>
            </a:r>
          </a:p>
        </p:txBody>
      </p:sp>
      <p:sp>
        <p:nvSpPr>
          <p:cNvPr id="120834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2438400" cy="4525963"/>
          </a:xfrm>
        </p:spPr>
        <p:txBody>
          <a:bodyPr/>
          <a:lstStyle/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import  sys 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sys.version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 err="1">
                <a:latin typeface="Times New Roman" pitchFamily="18" charset="0"/>
                <a:cs typeface="Times New Roman" pitchFamily="18" charset="0"/>
              </a:rPr>
              <a:t>sys.path</a:t>
            </a:r>
            <a:endParaRPr lang="en-GB" alt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 err="1">
                <a:latin typeface="Times New Roman" pitchFamily="18" charset="0"/>
                <a:cs typeface="Times New Roman" pitchFamily="18" charset="0"/>
              </a:rPr>
              <a:t>sys.modules</a:t>
            </a:r>
            <a:endParaRPr lang="en-GB" alt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 err="1">
                <a:latin typeface="Times New Roman" pitchFamily="18" charset="0"/>
                <a:cs typeface="Times New Roman" pitchFamily="18" charset="0"/>
              </a:rPr>
              <a:t>sys.argv</a:t>
            </a:r>
            <a:endParaRPr lang="en-GB" alt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 err="1">
                <a:latin typeface="Times New Roman" pitchFamily="18" charset="0"/>
                <a:cs typeface="Times New Roman" pitchFamily="18" charset="0"/>
              </a:rPr>
              <a:t>sys.exit</a:t>
            </a: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 err="1">
                <a:latin typeface="Times New Roman" pitchFamily="18" charset="0"/>
                <a:cs typeface="Times New Roman" pitchFamily="18" charset="0"/>
              </a:rPr>
              <a:t>sys.stdin</a:t>
            </a:r>
            <a:endParaRPr lang="en-GB" alt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 err="1">
                <a:latin typeface="Times New Roman" pitchFamily="18" charset="0"/>
                <a:cs typeface="Times New Roman" pitchFamily="18" charset="0"/>
              </a:rPr>
              <a:t>sys.stdout</a:t>
            </a:r>
            <a:endParaRPr lang="en-GB" alt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GB" alt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help(sys)</a:t>
            </a:r>
            <a:endParaRPr lang="en-GB" altLang="en-US" sz="2400" dirty="0">
              <a:latin typeface="Times New Roman" pitchFamily="18" charset="0"/>
              <a:cs typeface="Times New Roman" pitchFamily="18" charset="0"/>
              <a:hlinkClick r:id="rId3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581400" y="1295400"/>
            <a:ext cx="4800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import  </a:t>
            </a: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64326" indent="-269284"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os.system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(“command”)</a:t>
            </a:r>
          </a:p>
          <a:p>
            <a:pPr marL="364326" indent="-269284"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os.system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(“</a:t>
            </a: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dir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”)</a:t>
            </a:r>
          </a:p>
          <a:p>
            <a:pPr marL="364326" indent="-269284"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os.system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(“</a:t>
            </a: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ps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e|grep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 bash”)</a:t>
            </a:r>
          </a:p>
          <a:p>
            <a:pPr marL="364326" indent="-269284"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os.popen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(“</a:t>
            </a: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dir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”).read()</a:t>
            </a:r>
          </a:p>
          <a:p>
            <a:pPr marL="364326" indent="-269284"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os.popen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(“</a:t>
            </a: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dir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”).</a:t>
            </a: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readlines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364326" indent="-269284"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os.listdir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(“.”)</a:t>
            </a:r>
          </a:p>
          <a:p>
            <a:pPr marL="364326" indent="-269284"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os.mkdir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(“</a:t>
            </a: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dirName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”)</a:t>
            </a:r>
          </a:p>
          <a:p>
            <a:pPr marL="364326" indent="-269284"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os.chdir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(“</a:t>
            </a: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dirName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”)</a:t>
            </a:r>
          </a:p>
          <a:p>
            <a:pPr marL="364326" indent="-269284"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help(</a:t>
            </a: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GB" altLang="en-US" sz="2800" dirty="0">
              <a:latin typeface="Times New Roman" pitchFamily="18" charset="0"/>
              <a:cs typeface="Times New Roman" pitchFamily="18" charset="0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40312110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1: Open a python shell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2: Import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module (import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3: Display following information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Display working directory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Display list of files under current directory and count the total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no.of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files under current directory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Display your running python shell process ID(PID)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7266931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Create a new file p27.py  </a:t>
            </a:r>
          </a:p>
          <a:p>
            <a:pPr marL="0" indent="0">
              <a:buNone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File :pa.py</a:t>
            </a:r>
          </a:p>
          <a:p>
            <a:pPr marL="0" indent="0">
              <a:buNone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ip1=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(input(“Enter a IP1 value:”))</a:t>
            </a:r>
          </a:p>
          <a:p>
            <a:pPr marL="0" indent="0">
              <a:buNone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ip2=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(input(“Enter a IP2 value:”))</a:t>
            </a:r>
          </a:p>
          <a:p>
            <a:pPr marL="0" indent="0">
              <a:buNone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total=ip1+ip2</a:t>
            </a:r>
          </a:p>
          <a:p>
            <a:pPr marL="0" indent="0">
              <a:buNone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Print(“Sum of ip1 and ip2 value:{}”.format(total))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Modify the above code with command line arguments.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1959998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44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Python standard library</a:t>
            </a:r>
          </a:p>
        </p:txBody>
      </p:sp>
      <p:sp>
        <p:nvSpPr>
          <p:cNvPr id="120834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696200" cy="4525963"/>
          </a:xfrm>
        </p:spPr>
        <p:txBody>
          <a:bodyPr>
            <a:normAutofit fontScale="77500" lnSpcReduction="20000"/>
          </a:bodyPr>
          <a:lstStyle/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import  math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import  </a:t>
            </a:r>
            <a:r>
              <a:rPr lang="en-GB" altLang="en-US" sz="4000" dirty="0" err="1">
                <a:latin typeface="Times New Roman" pitchFamily="18" charset="0"/>
                <a:cs typeface="Times New Roman" pitchFamily="18" charset="0"/>
              </a:rPr>
              <a:t>pprint</a:t>
            </a:r>
            <a:endParaRPr lang="en-GB" altLang="en-US" sz="40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import  </a:t>
            </a:r>
            <a:r>
              <a:rPr lang="en-GB" altLang="en-US" sz="4000" dirty="0" err="1">
                <a:latin typeface="Times New Roman" pitchFamily="18" charset="0"/>
                <a:cs typeface="Times New Roman" pitchFamily="18" charset="0"/>
              </a:rPr>
              <a:t>json</a:t>
            </a:r>
            <a:endParaRPr lang="en-GB" altLang="en-US" sz="40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import  re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import  time</a:t>
            </a: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GB" altLang="en-US" sz="4000" dirty="0" err="1">
                <a:latin typeface="Times New Roman" pitchFamily="18" charset="0"/>
                <a:cs typeface="Times New Roman" pitchFamily="18" charset="0"/>
              </a:rPr>
              <a:t>cProfile</a:t>
            </a:r>
            <a:endParaRPr lang="en-GB" altLang="en-US" sz="40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endParaRPr lang="en-GB" altLang="en-US" sz="40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93000"/>
              </a:lnSpc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More standard module refer this URL</a:t>
            </a:r>
          </a:p>
          <a:p>
            <a:pPr marL="95042" indent="0">
              <a:lnSpc>
                <a:spcPct val="93000"/>
              </a:lnSpc>
              <a:buSzPct val="45000"/>
              <a:buNone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US" sz="4000" dirty="0">
                <a:latin typeface="Times New Roman" pitchFamily="18" charset="0"/>
                <a:cs typeface="Times New Roman" pitchFamily="18" charset="0"/>
                <a:hlinkClick r:id="rId3"/>
              </a:rPr>
              <a:t>The Python Standard Library — Python 3.9.5 documentation</a:t>
            </a:r>
            <a:endParaRPr lang="en-GB" alt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19620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44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GB" altLang="en-US" sz="40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 from ... import</a:t>
            </a:r>
          </a:p>
        </p:txBody>
      </p:sp>
      <p:sp>
        <p:nvSpPr>
          <p:cNvPr id="159747" name="Rectangle 2"/>
          <p:cNvSpPr>
            <a:spLocks noGrp="1" noChangeArrowheads="1"/>
          </p:cNvSpPr>
          <p:nvPr>
            <p:ph idx="1"/>
          </p:nvPr>
        </p:nvSpPr>
        <p:spPr>
          <a:xfrm>
            <a:off x="410296" y="1295400"/>
            <a:ext cx="8229600" cy="4525963"/>
          </a:xfrm>
        </p:spPr>
        <p:txBody>
          <a:bodyPr>
            <a:noAutofit/>
          </a:bodyPr>
          <a:lstStyle/>
          <a:p>
            <a:pPr marL="364326" indent="-269284">
              <a:lnSpc>
                <a:spcPct val="150000"/>
              </a:lnSpc>
              <a:buSzPct val="45000"/>
              <a:buFont typeface="Wingdings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</a:pP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import brings in a whole module; you need to qualify the names by the module name (e.g., </a:t>
            </a:r>
            <a:r>
              <a:rPr lang="en-GB" altLang="en-US" sz="2800" dirty="0" err="1">
                <a:latin typeface="Times New Roman" pitchFamily="18" charset="0"/>
                <a:cs typeface="Times New Roman" pitchFamily="18" charset="0"/>
              </a:rPr>
              <a:t>sys.argv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ar-SA" altLang="en-US" sz="2800" dirty="0">
                <a:latin typeface="Times New Roman" pitchFamily="18" charset="0"/>
                <a:cs typeface="Times New Roman" pitchFamily="18" charset="0"/>
              </a:rPr>
              <a:t>‏</a:t>
            </a:r>
            <a:endParaRPr lang="en-GB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364326" indent="-269284">
              <a:lnSpc>
                <a:spcPct val="150000"/>
              </a:lnSpc>
              <a:buSzPct val="45000"/>
              <a:buFont typeface="Wingdings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</a:pP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“import </a:t>
            </a:r>
            <a:r>
              <a:rPr lang="en-GB" altLang="en-US" sz="2800" b="1" dirty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lang="en-GB" altLang="en-US" sz="2800" dirty="0">
                <a:latin typeface="Times New Roman" pitchFamily="18" charset="0"/>
                <a:cs typeface="Times New Roman" pitchFamily="18" charset="0"/>
              </a:rPr>
              <a:t>” copies names from the module into the current module; no need to qualify them (note: these are copies, not links, to the original names)</a:t>
            </a:r>
            <a:br>
              <a:rPr lang="en-GB" alt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b="1" dirty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GB" altLang="en-US" sz="2400" b="1" dirty="0" err="1">
                <a:latin typeface="Times New Roman" pitchFamily="18" charset="0"/>
                <a:cs typeface="Times New Roman" pitchFamily="18" charset="0"/>
              </a:rPr>
              <a:t>module_x</a:t>
            </a:r>
            <a:r>
              <a:rPr lang="en-GB" altLang="en-US" sz="2400" b="1" dirty="0">
                <a:latin typeface="Times New Roman" pitchFamily="18" charset="0"/>
                <a:cs typeface="Times New Roman" pitchFamily="18" charset="0"/>
              </a:rPr>
              <a:t> import junk</a:t>
            </a:r>
            <a:br>
              <a:rPr lang="en-GB" alt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junk()  # not </a:t>
            </a:r>
            <a:r>
              <a:rPr lang="en-GB" altLang="en-US" sz="2400" dirty="0" err="1">
                <a:latin typeface="Times New Roman" pitchFamily="18" charset="0"/>
                <a:cs typeface="Times New Roman" pitchFamily="18" charset="0"/>
              </a:rPr>
              <a:t>module_x.junk</a:t>
            </a: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()</a:t>
            </a: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b="1" dirty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GB" altLang="en-US" sz="2400" b="1" dirty="0" err="1">
                <a:latin typeface="Times New Roman" pitchFamily="18" charset="0"/>
                <a:cs typeface="Times New Roman" pitchFamily="18" charset="0"/>
              </a:rPr>
              <a:t>module_x</a:t>
            </a:r>
            <a:r>
              <a:rPr lang="en-GB" altLang="en-US" sz="2400" b="1" dirty="0">
                <a:latin typeface="Times New Roman" pitchFamily="18" charset="0"/>
                <a:cs typeface="Times New Roman" pitchFamily="18" charset="0"/>
              </a:rPr>
              <a:t> import * </a:t>
            </a: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# gets all top-level</a:t>
            </a: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                                         # names from </a:t>
            </a:r>
            <a:r>
              <a:rPr lang="en-GB" altLang="en-US" sz="2400" dirty="0" err="1">
                <a:latin typeface="Times New Roman" pitchFamily="18" charset="0"/>
                <a:cs typeface="Times New Roman" pitchFamily="18" charset="0"/>
              </a:rPr>
              <a:t>module_x</a:t>
            </a:r>
            <a:endParaRPr lang="en-GB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42299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44000"/>
              </a:lnSpc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  <a:defRPr/>
            </a:pPr>
            <a:r>
              <a:rPr lang="en-GB" altLang="en-US" sz="4000" dirty="0">
                <a:latin typeface="Times New Roman" pitchFamily="18" charset="0"/>
                <a:cs typeface="Times New Roman" pitchFamily="18" charset="0"/>
              </a:rPr>
              <a:t>Module Packages</a:t>
            </a:r>
          </a:p>
        </p:txBody>
      </p:sp>
      <p:sp>
        <p:nvSpPr>
          <p:cNvPr id="12800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64326" indent="-269284"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When using import, we can give a directory path instead of a simple name.  A directory of Python code is known as a “package”:</a:t>
            </a:r>
            <a:br>
              <a:rPr lang="en-GB" alt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b="1" dirty="0">
                <a:latin typeface="Times New Roman" pitchFamily="18" charset="0"/>
                <a:cs typeface="Times New Roman" pitchFamily="18" charset="0"/>
              </a:rPr>
              <a:t>import dir1.dir2.module</a:t>
            </a:r>
            <a:br>
              <a:rPr lang="en-GB" alt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b="1" dirty="0">
                <a:latin typeface="Times New Roman" pitchFamily="18" charset="0"/>
                <a:cs typeface="Times New Roman" pitchFamily="18" charset="0"/>
              </a:rPr>
              <a:t>or</a:t>
            </a:r>
            <a:br>
              <a:rPr lang="en-GB" alt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b="1" dirty="0">
                <a:latin typeface="Times New Roman" pitchFamily="18" charset="0"/>
                <a:cs typeface="Times New Roman" pitchFamily="18" charset="0"/>
              </a:rPr>
              <a:t>from dir1.dir2.module import x</a:t>
            </a:r>
            <a:br>
              <a:rPr lang="en-GB" alt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will look for a file dir1/dir2/module.py</a:t>
            </a:r>
          </a:p>
          <a:p>
            <a:pPr marL="364326" indent="-269284"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Note: dir1 must be within one of the directories in the PYTHONPATH</a:t>
            </a:r>
          </a:p>
          <a:p>
            <a:pPr marL="364326" indent="-269284">
              <a:buSzPct val="45000"/>
              <a:buFont typeface="Wingdings" panose="05000000000000000000" pitchFamily="2" charset="2"/>
              <a:buChar char=""/>
              <a:tabLst>
                <a:tab pos="364326" algn="l"/>
                <a:tab pos="469447" algn="l"/>
                <a:tab pos="884173" algn="l"/>
                <a:tab pos="1298899" algn="l"/>
                <a:tab pos="1713625" algn="l"/>
                <a:tab pos="2128351" algn="l"/>
                <a:tab pos="2543078" algn="l"/>
                <a:tab pos="2957804" algn="l"/>
                <a:tab pos="3372530" algn="l"/>
                <a:tab pos="3787256" algn="l"/>
                <a:tab pos="4201982" algn="l"/>
                <a:tab pos="4616708" algn="l"/>
                <a:tab pos="5031434" algn="l"/>
                <a:tab pos="5446160" algn="l"/>
                <a:tab pos="5860886" algn="l"/>
                <a:tab pos="6275613" algn="l"/>
                <a:tab pos="6690339" algn="l"/>
                <a:tab pos="7105065" algn="l"/>
                <a:tab pos="7519791" algn="l"/>
                <a:tab pos="7934517" algn="l"/>
                <a:tab pos="8349243" algn="l"/>
              </a:tabLst>
              <a:defRPr/>
            </a:pPr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Note: dir1 and dir2 must be simple names, not using platform-specific syntax (e.g., no C:\)</a:t>
            </a:r>
            <a:r>
              <a:rPr lang="ar-SA" altLang="en-US" sz="2400" dirty="0">
                <a:latin typeface="Times New Roman" pitchFamily="18" charset="0"/>
                <a:cs typeface="Times New Roman" pitchFamily="18" charset="0"/>
              </a:rPr>
              <a:t>‏</a:t>
            </a:r>
            <a:endParaRPr lang="en-GB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84087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Python pip</a:t>
            </a:r>
          </a:p>
        </p:txBody>
      </p:sp>
      <p:pic>
        <p:nvPicPr>
          <p:cNvPr id="3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1827539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What is Pip?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pip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is a tool for installing and managing Python packages.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pip can be install on various operation systems: Linux, Mac, Windows,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etc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9944976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How to install &lt;module&gt;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winx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C:\Users\User&gt;python -m pip install fabric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Requirement already satisfied: fabric in c:\users\user\appdata\local\programs\p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site-packages (2.4.0)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613461" cy="685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7614109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Install Pip on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MacOS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Install pip on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MacOS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using 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easy_install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command and upgrade pip to the latest version: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easy_install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pip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pip install --upgrade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pip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7194212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itchFamily="18" charset="0"/>
                <a:cs typeface="Times New Roman" pitchFamily="18" charset="0"/>
                <a:hlinkClick r:id="rId2"/>
              </a:rPr>
              <a:t>get-pip.py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For mac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easy_install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has been </a:t>
            </a:r>
            <a:r>
              <a:rPr lang="en-US" u="sng" dirty="0">
                <a:latin typeface="Times New Roman" pitchFamily="18" charset="0"/>
                <a:cs typeface="Times New Roman" pitchFamily="18" charset="0"/>
              </a:rPr>
              <a:t>deprecated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First of all download the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get-pip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file</a:t>
            </a:r>
          </a:p>
          <a:p>
            <a:pPr fontAlgn="base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curl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hlinkClick r:id="rId3"/>
              </a:rPr>
              <a:t>https://bootstrap.pypa.io/get-pip.py -o get-pip.py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python get-pip.py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# run this file to install pip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111316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Install Pip in Ubuntu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Install pip in Ubuntu, using apt-get package manager:</a:t>
            </a:r>
          </a:p>
          <a:p>
            <a:pPr latinLnBrk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apt-get update</a:t>
            </a:r>
          </a:p>
          <a:p>
            <a:pPr latinLnBrk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apt-get install python-pip</a:t>
            </a:r>
          </a:p>
          <a:p>
            <a:pPr latinLnBrk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pip install --upgrade pip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9924982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Install Pip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CentOS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Install pip 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CentOS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from </a:t>
            </a:r>
            <a:r>
              <a:rPr lang="en-US" dirty="0">
                <a:latin typeface="Times New Roman" pitchFamily="18" charset="0"/>
                <a:cs typeface="Times New Roman" pitchFamily="18" charset="0"/>
                <a:hlinkClick r:id="rId2"/>
              </a:rPr>
              <a:t>EPEL repository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using yum package manager:</a:t>
            </a:r>
          </a:p>
          <a:p>
            <a:pPr latinLnBrk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yum update</a:t>
            </a:r>
          </a:p>
          <a:p>
            <a:pPr latinLnBrk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yum install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epel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-release</a:t>
            </a:r>
          </a:p>
          <a:p>
            <a:pPr latinLnBrk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yum install python-pip</a:t>
            </a:r>
          </a:p>
          <a:p>
            <a:pPr latinLnBrk="1"/>
            <a:r>
              <a:rPr lang="en-US" dirty="0">
                <a:latin typeface="Times New Roman" pitchFamily="18" charset="0"/>
                <a:cs typeface="Times New Roman" pitchFamily="18" charset="0"/>
              </a:rPr>
              <a:t># CentOS-7 and higher</a:t>
            </a:r>
          </a:p>
          <a:p>
            <a:pPr latinLnBrk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pip install --upgrade pip</a:t>
            </a:r>
          </a:p>
          <a:p>
            <a:pPr latinLnBrk="1"/>
            <a:r>
              <a:rPr lang="en-US" dirty="0">
                <a:latin typeface="Times New Roman" pitchFamily="18" charset="0"/>
                <a:cs typeface="Times New Roman" pitchFamily="18" charset="0"/>
              </a:rPr>
              <a:t># CentOS-6 (the last stable version of PIP that is compatible with Python 2.6)</a:t>
            </a:r>
          </a:p>
          <a:p>
            <a:pPr latinLnBrk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pip install pip==9.0.3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4570866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To list all modules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pydoc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modules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help('modules')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# print all names exported by the module print(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(module))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7184989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22098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Lesson - 10</a:t>
            </a:r>
          </a:p>
        </p:txBody>
      </p:sp>
      <p:pic>
        <p:nvPicPr>
          <p:cNvPr id="3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499666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Python Errors &amp; Exceptions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1143000" lvl="1" indent="-742950">
              <a:buAutoNum type="arabicPeriod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Syntax errors</a:t>
            </a:r>
          </a:p>
          <a:p>
            <a:pPr marL="400050" lvl="1" indent="0"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2.    Logical errors (Exceptions)</a:t>
            </a:r>
          </a:p>
          <a:p>
            <a:pPr marL="400050" lvl="1" indent="0">
              <a:buNone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94506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Python Logical Errors (Exceptions)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Errors that occur at runtime (after passing the syntax test) are called 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xceptions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or logical errors.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We can view all the built-in exceptions using the built-in local() function as follows: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dir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(locals()['__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builtins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__']))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831691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Exceptions in Python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Python has many built-in exceptions that are raised when your program encounters an error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When these exceptions occur, the Python interpreter stops the current process and passes it to the calling process until it is handled. If not handled, the program will crash.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854037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Exception block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try: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code block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except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Exception as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eobj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Handle Exception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There is no Exception</a:t>
            </a:r>
          </a:p>
          <a:p>
            <a:pPr marL="5715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finally:</a:t>
            </a: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Always running</a:t>
            </a: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9164930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76800" y="1524000"/>
            <a:ext cx="4038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try: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=100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print(VAR)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except Exception as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eobj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print(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eobj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print("List of files:-")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for v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os.listdir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("."):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print(v)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print("Exit from script")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400" y="1676400"/>
            <a:ext cx="4038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=100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print(VAR)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print("List of files:-")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for v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os.listdir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("."):</a:t>
            </a: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print(v)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print("Exit from script")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1024717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Raising Exceptions in Python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 Python programming, exceptions are raised when errors occur at runtime.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We can also manually raise exceptions using the raise keyword.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&gt;&gt;&gt; try: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n=input("Enter a login name:")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if n != "root":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      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raise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NameError ("Sorry your login name is not matched")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except Exception as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eobj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     print(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eobj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...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Enter a login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name:asfdsad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Sorry your login name is not matched</a:t>
            </a:r>
          </a:p>
          <a:p>
            <a:pPr marL="40005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6049528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33400" y="4419600"/>
            <a:ext cx="3657600" cy="2057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3400" y="2895600"/>
            <a:ext cx="3200400" cy="1295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229600" cy="4525963"/>
          </a:xfrm>
          <a:ln>
            <a:solidFill>
              <a:schemeClr val="bg2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create a new file p28.py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Handle the exceptions in the following cases  </a:t>
            </a:r>
          </a:p>
          <a:p>
            <a:pPr marL="0" indent="0">
              <a:buNone/>
            </a:pP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Case 1:</a:t>
            </a:r>
          </a:p>
          <a:p>
            <a:pPr marL="0" indent="0">
              <a:buNone/>
            </a:pP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port=8080</a:t>
            </a:r>
          </a:p>
          <a:p>
            <a:pPr marL="0" indent="0">
              <a:buNone/>
            </a:pP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print(PORT)</a:t>
            </a:r>
          </a:p>
          <a:p>
            <a:pPr marL="0" indent="0">
              <a:buNone/>
            </a:pP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Case 2:</a:t>
            </a:r>
          </a:p>
          <a:p>
            <a:pPr marL="0" indent="0">
              <a:buNone/>
            </a:pP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F=Open(“invalid file”)</a:t>
            </a:r>
          </a:p>
          <a:p>
            <a:pPr marL="0" indent="0">
              <a:buNone/>
            </a:pP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F.readlines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F.close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4773" y="3200400"/>
            <a:ext cx="4572000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Case 3:</a:t>
            </a:r>
          </a:p>
          <a:p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openpyxl</a:t>
            </a:r>
            <a:endParaRPr lang="en-US" sz="3600" i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Module Not Found 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1917829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685800" y="2209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Lesson - 11</a:t>
            </a: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6876130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Functional Style programming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Functional programming decomposes a problem into a set of functions.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Ideally, functions only take inputs and produce outputs, and don’t have any internal state that affects the output produced for a given input.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Well-known functional languages include the ML family.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Every function's output must only depend on its input.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2222223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Functional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Functional programming can be considered the opposite of object-oriented programming.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Objects are little capsules containing some internal state along with a collection of method calls that let you modify this state, and programs consist of making the right set of state changes.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Functional programming wants to avoid state changes as much as possible and works with data flowing between functions.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9636485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List comprehension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List comprehension offers a shorter syntax when you want to create a new list based on the values of an existing list.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newlist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[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expression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for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item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in 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]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L1=[ ]  </a:t>
            </a: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# empty list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range(5)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r=var+100             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  L2=[ var+100 for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range(5)]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L1.append(r)                        print(L2)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print(L1)                                        [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100,102,102,103,104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[ 100, 101, 102, 103, 104 ]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6883692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034048" y="2447836"/>
            <a:ext cx="6109952" cy="762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List comprehension with conditional statements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67818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a-DK" dirty="0">
                <a:latin typeface="Times New Roman" pitchFamily="18" charset="0"/>
                <a:cs typeface="Times New Roman" pitchFamily="18" charset="0"/>
              </a:rPr>
              <a:t>L1=[]</a:t>
            </a:r>
          </a:p>
          <a:p>
            <a:pPr marL="0" indent="0">
              <a:buNone/>
            </a:pPr>
            <a:r>
              <a:rPr lang="da-DK" dirty="0">
                <a:latin typeface="Times New Roman" pitchFamily="18" charset="0"/>
                <a:cs typeface="Times New Roman" pitchFamily="18" charset="0"/>
              </a:rPr>
              <a:t>for var in range(15):</a:t>
            </a:r>
          </a:p>
          <a:p>
            <a:pPr marL="0" indent="0">
              <a:buNone/>
            </a:pPr>
            <a:r>
              <a:rPr lang="da-DK" dirty="0">
                <a:latin typeface="Times New Roman" pitchFamily="18" charset="0"/>
                <a:cs typeface="Times New Roman" pitchFamily="18" charset="0"/>
              </a:rPr>
              <a:t>    if var &gt;10:</a:t>
            </a:r>
          </a:p>
          <a:p>
            <a:pPr marL="0" indent="0">
              <a:buNone/>
            </a:pPr>
            <a:r>
              <a:rPr lang="da-DK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 r=var+100</a:t>
            </a:r>
          </a:p>
          <a:p>
            <a:pPr marL="0" indent="0">
              <a:buNone/>
            </a:pPr>
            <a:r>
              <a:rPr lang="da-DK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 L1.append(r)</a:t>
            </a:r>
          </a:p>
          <a:p>
            <a:pPr marL="0" indent="0">
              <a:buNone/>
            </a:pPr>
            <a:r>
              <a:rPr lang="da-DK" dirty="0">
                <a:latin typeface="Times New Roman" pitchFamily="18" charset="0"/>
                <a:cs typeface="Times New Roman" pitchFamily="18" charset="0"/>
              </a:rPr>
              <a:t>    else:</a:t>
            </a:r>
          </a:p>
          <a:p>
            <a:pPr marL="0" indent="0">
              <a:buNone/>
            </a:pPr>
            <a:r>
              <a:rPr lang="da-DK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r=var+500</a:t>
            </a:r>
          </a:p>
          <a:p>
            <a:pPr marL="0" indent="0">
              <a:buNone/>
            </a:pPr>
            <a:r>
              <a:rPr lang="da-DK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L1.append(r)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L1</a:t>
            </a: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500, 501, 502, 503, 504, 505, 506, 507, 508, 509, 510, </a:t>
            </a:r>
            <a:r>
              <a:rPr lang="en-US" sz="17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111, 112, 113, 114</a:t>
            </a: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]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1183" y="2628781"/>
            <a:ext cx="6096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000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da-DK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var+100</a:t>
            </a:r>
            <a:r>
              <a:rPr lang="da-DK" sz="2000" b="1" dirty="0">
                <a:latin typeface="Times New Roman" pitchFamily="18" charset="0"/>
                <a:cs typeface="Times New Roman" pitchFamily="18" charset="0"/>
              </a:rPr>
              <a:t> if var &gt;10 else </a:t>
            </a:r>
            <a:r>
              <a:rPr lang="da-DK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var+500</a:t>
            </a:r>
            <a:r>
              <a:rPr lang="da-DK" sz="2000" b="1" dirty="0">
                <a:latin typeface="Times New Roman" pitchFamily="18" charset="0"/>
                <a:cs typeface="Times New Roman" pitchFamily="18" charset="0"/>
              </a:rPr>
              <a:t> for var in range(15)]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Curved Connector 8"/>
          <p:cNvCxnSpPr/>
          <p:nvPr/>
        </p:nvCxnSpPr>
        <p:spPr>
          <a:xfrm rot="5400000">
            <a:off x="3505200" y="3352800"/>
            <a:ext cx="2133600" cy="1828800"/>
          </a:xfrm>
          <a:prstGeom prst="curvedConnector3">
            <a:avLst>
              <a:gd name="adj1" fmla="val 50000"/>
            </a:avLst>
          </a:prstGeom>
          <a:ln cmpd="thickThin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7829256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List comprehension with string methods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8534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>
                <a:latin typeface="Times New Roman" pitchFamily="18" charset="0"/>
                <a:cs typeface="Times New Roman" pitchFamily="18" charset="0"/>
              </a:rPr>
              <a:t>s='welcome'</a:t>
            </a:r>
          </a:p>
          <a:p>
            <a:pPr marL="0" indent="0">
              <a:buNone/>
            </a:pPr>
            <a:r>
              <a:rPr lang="da-DK" dirty="0">
                <a:latin typeface="Times New Roman" pitchFamily="18" charset="0"/>
                <a:cs typeface="Times New Roman" pitchFamily="18" charset="0"/>
              </a:rPr>
              <a:t>[var.upper() for var in s]</a:t>
            </a:r>
          </a:p>
          <a:p>
            <a:pPr marL="0" indent="0">
              <a:buNone/>
            </a:pPr>
            <a:endParaRPr lang="it-IT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itchFamily="18" charset="0"/>
                <a:cs typeface="Times New Roman" pitchFamily="18" charset="0"/>
              </a:rPr>
              <a:t>['W', 'E', 'L', 'C', 'O', 'M', 'E']</a:t>
            </a:r>
          </a:p>
          <a:p>
            <a:pPr marL="0" indent="0">
              <a:buNone/>
            </a:pPr>
            <a:br>
              <a:rPr lang="it-IT" dirty="0">
                <a:latin typeface="Times New Roman" pitchFamily="18" charset="0"/>
                <a:cs typeface="Times New Roman" pitchFamily="18" charset="0"/>
              </a:rPr>
            </a:br>
            <a:endParaRPr lang="da-DK" sz="17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7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4789627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26218" y="1295400"/>
            <a:ext cx="8458200" cy="609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2800" dirty="0">
                <a:latin typeface="Times New Roman" pitchFamily="18" charset="0"/>
                <a:cs typeface="Times New Roman" pitchFamily="18" charset="0"/>
              </a:rPr>
              <a:t>Modify the following code into list comprehension style </a:t>
            </a:r>
          </a:p>
          <a:p>
            <a:pPr marL="0" indent="0">
              <a:buNone/>
            </a:pPr>
            <a:endParaRPr lang="da-DK" sz="2800" i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da-DK" sz="2800" i="1" dirty="0">
                <a:latin typeface="Times New Roman" pitchFamily="18" charset="0"/>
                <a:cs typeface="Times New Roman" pitchFamily="18" charset="0"/>
              </a:rPr>
              <a:t>L=[]</a:t>
            </a:r>
          </a:p>
          <a:p>
            <a:pPr marL="0" indent="0">
              <a:buNone/>
            </a:pPr>
            <a:r>
              <a:rPr lang="da-DK" sz="2800" i="1" dirty="0">
                <a:latin typeface="Times New Roman" pitchFamily="18" charset="0"/>
                <a:cs typeface="Times New Roman" pitchFamily="18" charset="0"/>
              </a:rPr>
              <a:t>F=open("D:\\emp.csv")</a:t>
            </a:r>
          </a:p>
          <a:p>
            <a:pPr marL="0" indent="0">
              <a:buNone/>
            </a:pPr>
            <a:r>
              <a:rPr lang="da-DK" sz="2800" i="1" dirty="0">
                <a:latin typeface="Times New Roman" pitchFamily="18" charset="0"/>
                <a:cs typeface="Times New Roman" pitchFamily="18" charset="0"/>
              </a:rPr>
              <a:t>for var in F.readlines():</a:t>
            </a:r>
          </a:p>
          <a:p>
            <a:pPr marL="0" indent="0">
              <a:buNone/>
            </a:pPr>
            <a:r>
              <a:rPr lang="da-DK" sz="2800" i="1" dirty="0">
                <a:latin typeface="Times New Roman" pitchFamily="18" charset="0"/>
                <a:cs typeface="Times New Roman" pitchFamily="18" charset="0"/>
              </a:rPr>
              <a:t>    var=var.strip()</a:t>
            </a:r>
          </a:p>
          <a:p>
            <a:pPr marL="0" indent="0">
              <a:buNone/>
            </a:pPr>
            <a:r>
              <a:rPr lang="da-DK" sz="2800" i="1" dirty="0">
                <a:latin typeface="Times New Roman" pitchFamily="18" charset="0"/>
                <a:cs typeface="Times New Roman" pitchFamily="18" charset="0"/>
              </a:rPr>
              <a:t>    s=var.upper()</a:t>
            </a:r>
          </a:p>
          <a:p>
            <a:pPr marL="0" indent="0">
              <a:buNone/>
            </a:pPr>
            <a:r>
              <a:rPr lang="da-DK" sz="2800" i="1" dirty="0">
                <a:latin typeface="Times New Roman" pitchFamily="18" charset="0"/>
                <a:cs typeface="Times New Roman" pitchFamily="18" charset="0"/>
              </a:rPr>
              <a:t>    L.append(s)</a:t>
            </a:r>
          </a:p>
          <a:p>
            <a:pPr marL="0" indent="0">
              <a:buNone/>
            </a:pPr>
            <a:endParaRPr lang="da-DK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/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0901514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Defining an Anonymous Function With lambda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functionName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 – named function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lambda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unnamed function</a:t>
            </a:r>
          </a:p>
          <a:p>
            <a:r>
              <a:rPr lang="el-GR" b="1" dirty="0">
                <a:latin typeface="Times New Roman" pitchFamily="18" charset="0"/>
                <a:cs typeface="Times New Roman" pitchFamily="18" charset="0"/>
              </a:rPr>
              <a:t>λ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 The term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lambda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comes from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lambda calculus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 formal system of mathematical logic for expressing computation based on function abstraction and application.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146616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lambda &lt;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parameter_list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&gt;: &lt;expression&gt;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423408"/>
              </p:ext>
            </p:extLst>
          </p:nvPr>
        </p:nvGraphicFramePr>
        <p:xfrm>
          <a:off x="914400" y="2514600"/>
          <a:ext cx="6629400" cy="3205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dirty="0">
                          <a:effectLst/>
                        </a:rPr>
                        <a:t>Component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>
                          <a:effectLst/>
                        </a:rPr>
                        <a:t>Meaning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lambda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The keyword that introduces a lambda expression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&lt;</a:t>
                      </a:r>
                      <a:r>
                        <a:rPr lang="en-US" dirty="0" err="1">
                          <a:effectLst/>
                        </a:rPr>
                        <a:t>parameter_list</a:t>
                      </a:r>
                      <a:r>
                        <a:rPr lang="en-US" dirty="0">
                          <a:effectLst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An optional comma-separated list of parameter names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Punctuation that separates &lt;</a:t>
                      </a:r>
                      <a:r>
                        <a:rPr lang="en-US" dirty="0" err="1">
                          <a:effectLst/>
                        </a:rPr>
                        <a:t>parameter_list</a:t>
                      </a:r>
                      <a:r>
                        <a:rPr lang="en-US" dirty="0">
                          <a:effectLst/>
                        </a:rPr>
                        <a:t>&gt; from &lt;expression&gt;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&lt;expression&gt;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An expression usually involving the names in &lt;</a:t>
                      </a:r>
                      <a:r>
                        <a:rPr lang="en-US" dirty="0" err="1">
                          <a:effectLst/>
                        </a:rPr>
                        <a:t>parameter_list</a:t>
                      </a:r>
                      <a:r>
                        <a:rPr lang="en-US" dirty="0">
                          <a:effectLst/>
                        </a:rPr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9419886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lambda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value of a lambda expression is a callable function like </a:t>
            </a: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functionname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takes arguments, as specified by &lt;</a:t>
            </a:r>
            <a:r>
              <a:rPr lang="en-US" dirty="0" err="1"/>
              <a:t>parameter_list</a:t>
            </a:r>
            <a:r>
              <a:rPr lang="en-US" dirty="0"/>
              <a:t>&gt;, and returns a value, as indicated by &lt;expression&gt;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fx</a:t>
            </a:r>
            <a:r>
              <a:rPr lang="en-US" dirty="0"/>
              <a:t>(a):                           lambda a:a+100</a:t>
            </a:r>
          </a:p>
          <a:p>
            <a:pPr marL="0" indent="0">
              <a:buNone/>
            </a:pPr>
            <a:r>
              <a:rPr lang="en-US" dirty="0"/>
              <a:t>       return a+100   </a:t>
            </a:r>
            <a:r>
              <a:rPr lang="en-US" sz="2800" dirty="0" err="1"/>
              <a:t>Vs</a:t>
            </a:r>
            <a:r>
              <a:rPr lang="en-US" dirty="0"/>
              <a:t>      </a:t>
            </a:r>
            <a:r>
              <a:rPr lang="en-US" sz="2400" dirty="0"/>
              <a:t>&lt;function __main__.&lt;lambda&gt;(a)&gt;  </a:t>
            </a:r>
          </a:p>
          <a:p>
            <a:pPr marL="0" indent="0">
              <a:buNone/>
            </a:pPr>
            <a:r>
              <a:rPr lang="en-US" b="1" dirty="0" err="1"/>
              <a:t>fx</a:t>
            </a:r>
            <a:r>
              <a:rPr lang="en-US" b="1" dirty="0"/>
              <a:t>(10) =&gt; 110</a:t>
            </a:r>
            <a:r>
              <a:rPr lang="en-US" dirty="0"/>
              <a:t>                    </a:t>
            </a:r>
            <a:r>
              <a:rPr lang="en-US" b="1" dirty="0" err="1"/>
              <a:t>fy</a:t>
            </a:r>
            <a:r>
              <a:rPr lang="en-US" b="1" dirty="0"/>
              <a:t>=lambda a:a+100</a:t>
            </a:r>
          </a:p>
          <a:p>
            <a:pPr marL="0" indent="0">
              <a:buNone/>
            </a:pPr>
            <a:r>
              <a:rPr lang="en-US" b="1" dirty="0"/>
              <a:t>                                            </a:t>
            </a:r>
            <a:r>
              <a:rPr lang="en-US" b="1" dirty="0" err="1"/>
              <a:t>fy</a:t>
            </a:r>
            <a:r>
              <a:rPr lang="en-US" b="1" dirty="0"/>
              <a:t>(100) =&gt; 110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385403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Lambda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exp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function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f1=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lambda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a,b:a+b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f1(10,20) =&gt; 30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f2=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lambda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a,b:a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&gt;b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f2(100,5) =&gt; True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f(a1)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return a1+100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f3=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lambda a:</a:t>
            </a:r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f(a)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f3(10) =&gt; 110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0444176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Write a python program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Create a new file – p29.py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Modify the below codes into lambda  style </a:t>
            </a:r>
          </a:p>
          <a:p>
            <a:pPr marL="0" indent="0">
              <a:buNone/>
            </a:pPr>
            <a:r>
              <a:rPr lang="en-US" sz="2400" i="1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i="1" dirty="0" err="1"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(a):</a:t>
            </a:r>
          </a:p>
          <a:p>
            <a:pPr marL="0" indent="0">
              <a:buNone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	return </a:t>
            </a:r>
            <a:r>
              <a:rPr lang="en-US" sz="2400" i="1" dirty="0" err="1">
                <a:latin typeface="Times New Roman" pitchFamily="18" charset="0"/>
                <a:cs typeface="Times New Roman" pitchFamily="18" charset="0"/>
              </a:rPr>
              <a:t>a+”.log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0" indent="0">
              <a:buNone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Files=[]</a:t>
            </a:r>
          </a:p>
          <a:p>
            <a:pPr marL="0" indent="0">
              <a:buNone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400" i="1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in [‘p1’,’p2’,’p3’,’p4’,’p5’]:</a:t>
            </a:r>
          </a:p>
          <a:p>
            <a:pPr marL="0" indent="0">
              <a:buNone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         r=</a:t>
            </a:r>
            <a:r>
              <a:rPr lang="en-US" sz="2400" i="1" dirty="0" err="1"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2400" i="1" dirty="0" err="1">
                <a:latin typeface="Times New Roman" pitchFamily="18" charset="0"/>
                <a:cs typeface="Times New Roman" pitchFamily="18" charset="0"/>
              </a:rPr>
              <a:t>Files.append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(r) 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2795389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28541" y="30480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Lesson - 12</a:t>
            </a:r>
          </a:p>
        </p:txBody>
      </p:sp>
    </p:spTree>
    <p:extLst>
      <p:ext uri="{BB962C8B-B14F-4D97-AF65-F5344CB8AC3E}">
        <p14:creationId xmlns:p14="http://schemas.microsoft.com/office/powerpoint/2010/main" val="3682898668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functionaltools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map =&gt; map(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function,collection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filter  =&gt; filter(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function,collection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reduce =&gt; reduce(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function,collection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5283283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8586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754563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map(&lt;function&gt;,collection)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map() returns in iterator that yields the results of applying function &lt;function&gt; to each element of &lt;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&gt;.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3459033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L1=[] # empty list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in range(5):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r=var+100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L1.append(r)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print(L1)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76600" y="350520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L1=[]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f1(a):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return a+100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range(5):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r=f1(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L1.append(r)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print(L1)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582992" y="3323272"/>
            <a:ext cx="3505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map(f1,range(5))</a:t>
            </a:r>
          </a:p>
          <a:p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&lt;map at 0x502cd90&gt;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5562600" y="4154269"/>
            <a:ext cx="3429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L1=list(map(f1,range(5)))</a:t>
            </a:r>
          </a:p>
          <a:p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print(L1)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057400" y="6019800"/>
            <a:ext cx="7856197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[100, 101, 102, 103, 104]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Curved Connector 9"/>
          <p:cNvCxnSpPr/>
          <p:nvPr/>
        </p:nvCxnSpPr>
        <p:spPr>
          <a:xfrm>
            <a:off x="990600" y="5410200"/>
            <a:ext cx="1066800" cy="838200"/>
          </a:xfrm>
          <a:prstGeom prst="curvedConnector3">
            <a:avLst>
              <a:gd name="adj1" fmla="val 50000"/>
            </a:avLst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/>
          <p:nvPr/>
        </p:nvCxnSpPr>
        <p:spPr>
          <a:xfrm rot="5400000">
            <a:off x="5502533" y="5045333"/>
            <a:ext cx="1034534" cy="914400"/>
          </a:xfrm>
          <a:prstGeom prst="curvedConnector3">
            <a:avLst>
              <a:gd name="adj1" fmla="val 63694"/>
            </a:avLst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810000" y="5813524"/>
            <a:ext cx="0" cy="206276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2690141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8586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754563"/>
          </a:xfrm>
        </p:spPr>
        <p:txBody>
          <a:bodyPr/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L1=list(map(f1,range(5)))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Modify the above code by replacing f1 with lambda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4718617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8586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754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map() – function supports arithmetic, comparison expression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list(map(lambda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a,b:a+b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,[10,20,30,40],[100,200,300,400]))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[110, 220, 330, 440]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list(map(lambda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a,b:a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&gt;b,[120,20,130,450],[100,200,300,400]))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[True, False, False, True]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8638696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Predict the output </a:t>
            </a:r>
          </a:p>
          <a:p>
            <a:pPr marL="0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f1(a):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if a == 'p1':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a+".log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 == 'p2':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a+".java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 == 'p3':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return a+".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else: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a+".txt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list(map(lambda a:f1(a),['p1','p2','p3','p4','p5']))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2507756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8586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754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filter()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allows you to select or filter items from an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based on evaluation of the given function.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filter(&lt;function&gt;,collection)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filter(&lt;function&gt;, &lt;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&gt;) applies function &lt;function&gt; to each element of &lt;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&gt; and returns an iterator that yields all items for which &lt;function&gt; is True. 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5823799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65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Filter-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9144000" cy="54864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filter(lambda a:a&gt;10,range(15))</a:t>
            </a:r>
          </a:p>
          <a:p>
            <a:r>
              <a:rPr lang="da-DK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&lt;filter at 0x507f250&gt;</a:t>
            </a:r>
          </a:p>
          <a:p>
            <a:r>
              <a:rPr lang="da-DK" sz="2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list(filter(lambda a:a&gt;10,range(15)))</a:t>
            </a:r>
          </a:p>
          <a:p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[11, 12, 13, 14]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fnames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=['p1.log','test.java','p1.c','p2.java','p1.java','p2.cpp']</a:t>
            </a:r>
          </a:p>
          <a:p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list(filter(lambda a:a in 'p1.c',fnames))  =&gt; </a:t>
            </a:r>
            <a:r>
              <a:rPr lang="en-US" sz="2400" b="1" dirty="0">
                <a:solidFill>
                  <a:srgbClr val="00B050"/>
                </a:solidFill>
              </a:rPr>
              <a:t>['p1.c']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list(filter(lambda a:a == 'p1.c' or a == 'p1.java' or a == 'test.java',</a:t>
            </a:r>
            <a:r>
              <a:rPr lang="en-US" sz="2000" b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fnames</a:t>
            </a: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     ['test.java', 'p1.c', 'p1.java']</a:t>
            </a:r>
          </a:p>
          <a:p>
            <a:pPr marL="0" indent="0">
              <a:buNone/>
            </a:pP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br>
              <a:rPr lang="da-DK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0782089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1: Create a new file p30.py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2: Given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Depts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list </a:t>
            </a:r>
          </a:p>
          <a:p>
            <a:pPr marL="0" indent="0">
              <a:buNone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Depts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=[‘admin’,’sales’,’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crm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’,’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QA’,’HR’,’prod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’]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Step 3: Filter following departments from the list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sales,QA,prod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Note : use comprehension and filter function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22505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5429"/>
            <a:ext cx="8229600" cy="452596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reduce() -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Reducing an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to a Single Value.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 python 3.x to use reduce(), you need to import it from a module called functools.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358140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L=[10,20,30,40,50]</a:t>
            </a:r>
          </a:p>
          <a:p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s=0</a:t>
            </a:r>
          </a:p>
          <a:p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in L:</a:t>
            </a:r>
          </a:p>
          <a:p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s=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s+var</a:t>
            </a:r>
            <a:endParaRPr lang="en-US" sz="2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print(s) =&gt;150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715000"/>
            <a:ext cx="6553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from functools import  reduce</a:t>
            </a:r>
          </a:p>
          <a:p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print(reduce(lambda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s,var:s+var,L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)) =&gt; 150</a:t>
            </a:r>
          </a:p>
        </p:txBody>
      </p:sp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9662063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Create a new file : p31.py file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Given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LB=[0.35,2.32,3.23,4.25,0.42]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Calculate Sum CPU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LoadBalance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Test whether the total load balance is above 10.5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if so display warning message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“High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cpu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utlization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Note: use reduce() </a:t>
            </a: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9495199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3400" y="19812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Lesson - 13</a:t>
            </a:r>
          </a:p>
        </p:txBody>
      </p:sp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364843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 about python OOPs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Class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Method</a:t>
            </a:r>
          </a:p>
        </p:txBody>
      </p:sp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6248140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Classes are used to create new user-defined data structures that contain arbitrary information about object.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We can think class is a blueprint of the object.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Syntax about class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class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classname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members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a keyword, class name is user defined. 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73" y="42476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9750046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327" y="152400"/>
            <a:ext cx="8229600" cy="792162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Class -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4423" y="1412280"/>
            <a:ext cx="4572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class box: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'''empty class'''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pass</a:t>
            </a: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print(type(box))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&lt;class 'type'&gt; </a:t>
            </a:r>
          </a:p>
          <a:p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62400" y="1379009"/>
            <a:ext cx="4572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class box: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bname='Box-1'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bsize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=134   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#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classname.attribute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box.bname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box.bsize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box.bname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="Box-2" </a:t>
            </a:r>
          </a:p>
          <a:p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box.bsize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=450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box.bname,box.bsize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629400" y="1828800"/>
            <a:ext cx="2362200" cy="914400"/>
            <a:chOff x="6629400" y="1828800"/>
            <a:chExt cx="2362200" cy="914400"/>
          </a:xfrm>
        </p:grpSpPr>
        <p:sp>
          <p:nvSpPr>
            <p:cNvPr id="6" name="Oval 5"/>
            <p:cNvSpPr/>
            <p:nvPr/>
          </p:nvSpPr>
          <p:spPr>
            <a:xfrm>
              <a:off x="7162800" y="1828800"/>
              <a:ext cx="1828800" cy="762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class attributes</a:t>
              </a:r>
            </a:p>
          </p:txBody>
        </p:sp>
        <p:sp>
          <p:nvSpPr>
            <p:cNvPr id="7" name="Right Brace 6"/>
            <p:cNvSpPr/>
            <p:nvPr/>
          </p:nvSpPr>
          <p:spPr>
            <a:xfrm>
              <a:off x="6629400" y="1828800"/>
              <a:ext cx="533400" cy="91440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086600" y="4762500"/>
            <a:ext cx="2057400" cy="1143000"/>
            <a:chOff x="7086600" y="4762500"/>
            <a:chExt cx="2057400" cy="1143000"/>
          </a:xfrm>
        </p:grpSpPr>
        <p:sp>
          <p:nvSpPr>
            <p:cNvPr id="10" name="Right Brace 9"/>
            <p:cNvSpPr/>
            <p:nvPr/>
          </p:nvSpPr>
          <p:spPr>
            <a:xfrm>
              <a:off x="7086600" y="4953000"/>
              <a:ext cx="457200" cy="76200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7543800" y="4762500"/>
              <a:ext cx="1600200" cy="1143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We can overwrite class attrs</a:t>
              </a:r>
            </a:p>
          </p:txBody>
        </p:sp>
      </p:grpSp>
      <p:sp>
        <p:nvSpPr>
          <p:cNvPr id="13" name="Oval 12"/>
          <p:cNvSpPr/>
          <p:nvPr/>
        </p:nvSpPr>
        <p:spPr>
          <a:xfrm>
            <a:off x="1219200" y="955080"/>
            <a:ext cx="457200" cy="457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5078569" y="955080"/>
            <a:ext cx="457200" cy="4572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pic>
        <p:nvPicPr>
          <p:cNvPr id="1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325418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NameError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AttributeError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=100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print(VAR) =&gt;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Name Error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class Box: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=100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Box.VAR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=&gt;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Attribute Error 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6892805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1: Create a file name: p32.py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2: Create a class name Employee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3: Add following employee attribute details to Employee class</a:t>
            </a:r>
          </a:p>
          <a:p>
            <a:pPr marL="0" indent="0">
              <a:buNone/>
            </a:pP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Employee name (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ename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), Employee ID(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eid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and initialize them with default values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4: Display employee details from outside the class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4722904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While the class is the blueprint, an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instance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is a copy of the class with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actual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values, literally an object belonging to a specific class.</a:t>
            </a:r>
          </a:p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An object (instance) is an instantiation of a class. </a:t>
            </a:r>
          </a:p>
          <a:p>
            <a:pPr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From single class we can create more than one</a:t>
            </a:r>
          </a:p>
          <a:p>
            <a:pPr marL="0" indent="0" fontAlgn="base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object.</a:t>
            </a:r>
          </a:p>
          <a:p>
            <a:pPr marL="0" indent="0">
              <a:buNone/>
            </a:pP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73" y="42476"/>
            <a:ext cx="1066800" cy="119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037086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3928" y="685800"/>
            <a:ext cx="4572000" cy="55707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class box: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bname='Box-1'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bsize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=123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obj1=box()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obj1</a:t>
            </a:r>
          </a:p>
          <a:p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&lt;__</a:t>
            </a:r>
            <a:r>
              <a:rPr lang="en-US" sz="2400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main__.box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at </a:t>
            </a:r>
            <a:r>
              <a:rPr lang="en-US" sz="2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0x507f700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obj2=box()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obj2</a:t>
            </a:r>
          </a:p>
          <a:p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&lt;__</a:t>
            </a:r>
            <a:r>
              <a:rPr lang="en-US" sz="2400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main__.box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at 0x507ffd0&gt;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419600" y="457200"/>
            <a:ext cx="4457700" cy="4098414"/>
            <a:chOff x="4267200" y="457200"/>
            <a:chExt cx="4457700" cy="4098414"/>
          </a:xfrm>
        </p:grpSpPr>
        <p:sp>
          <p:nvSpPr>
            <p:cNvPr id="6" name="Rectangle 5"/>
            <p:cNvSpPr/>
            <p:nvPr/>
          </p:nvSpPr>
          <p:spPr>
            <a:xfrm>
              <a:off x="5257800" y="457200"/>
              <a:ext cx="3276600" cy="12192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class box:</a:t>
              </a:r>
            </a:p>
            <a:p>
              <a:r>
                <a:rPr 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        bname=“Box-1”</a:t>
              </a:r>
            </a:p>
            <a:p>
              <a:r>
                <a:rPr 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        bsize=123</a:t>
              </a:r>
              <a:endParaRPr lang="en-US" dirty="0"/>
            </a:p>
          </p:txBody>
        </p:sp>
        <p:cxnSp>
          <p:nvCxnSpPr>
            <p:cNvPr id="8" name="Straight Connector 7"/>
            <p:cNvCxnSpPr/>
            <p:nvPr/>
          </p:nvCxnSpPr>
          <p:spPr>
            <a:xfrm flipH="1">
              <a:off x="5105400" y="1676400"/>
              <a:ext cx="1219200" cy="1447800"/>
            </a:xfrm>
            <a:prstGeom prst="line">
              <a:avLst/>
            </a:prstGeom>
            <a:ln w="22225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324600" y="1676400"/>
              <a:ext cx="1371600" cy="16002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4267200" y="3138577"/>
              <a:ext cx="1828800" cy="82382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class box: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     bname=“Box-1”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     bsize=123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96100" y="3276600"/>
              <a:ext cx="1828800" cy="82382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class box: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     bname=“Box-1”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     bsize=123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571999" y="4082534"/>
              <a:ext cx="60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obj1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396278" y="4186282"/>
              <a:ext cx="60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obj2</a:t>
              </a:r>
            </a:p>
          </p:txBody>
        </p:sp>
      </p:grpSp>
      <p:pic>
        <p:nvPicPr>
          <p:cNvPr id="1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7466564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277" y="533400"/>
            <a:ext cx="8229600" cy="4525963"/>
          </a:xfrm>
        </p:spPr>
        <p:txBody>
          <a:bodyPr>
            <a:normAutofit/>
          </a:bodyPr>
          <a:lstStyle/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class box: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bname='Box-1'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bsize=123</a:t>
            </a:r>
          </a:p>
          <a:p>
            <a:endParaRPr lang="en-US" dirty="0"/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5867400" y="293471"/>
            <a:ext cx="3276600" cy="4572000"/>
            <a:chOff x="5486399" y="457200"/>
            <a:chExt cx="3390902" cy="4572000"/>
          </a:xfrm>
        </p:grpSpPr>
        <p:sp>
          <p:nvSpPr>
            <p:cNvPr id="5" name="Rectangle 4"/>
            <p:cNvSpPr/>
            <p:nvPr/>
          </p:nvSpPr>
          <p:spPr>
            <a:xfrm>
              <a:off x="6239933" y="457200"/>
              <a:ext cx="2492457" cy="133162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class box:</a:t>
              </a:r>
            </a:p>
            <a:p>
              <a:r>
                <a:rPr 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        bname=“Box-1”</a:t>
              </a:r>
            </a:p>
            <a:p>
              <a:r>
                <a:rPr 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        bsize=123</a:t>
              </a:r>
              <a:endParaRPr lang="en-US" dirty="0"/>
            </a:p>
          </p:txBody>
        </p:sp>
        <p:cxnSp>
          <p:nvCxnSpPr>
            <p:cNvPr id="6" name="Straight Connector 5"/>
            <p:cNvCxnSpPr/>
            <p:nvPr/>
          </p:nvCxnSpPr>
          <p:spPr>
            <a:xfrm flipH="1">
              <a:off x="6124005" y="1788821"/>
              <a:ext cx="927426" cy="1581300"/>
            </a:xfrm>
            <a:prstGeom prst="line">
              <a:avLst/>
            </a:prstGeom>
            <a:ln w="22225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7051431" y="1788821"/>
              <a:ext cx="1043354" cy="174775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5486399" y="3385823"/>
              <a:ext cx="1752601" cy="1229024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class box: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   bname=“Box-1”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   bsize=123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15201" y="3370121"/>
              <a:ext cx="1562100" cy="124472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class box: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400" dirty="0">
                  <a:solidFill>
                    <a:schemeClr val="tx1"/>
                  </a:solidFill>
                </a:rPr>
                <a:t>bname=“Box-1”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 bsize=123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77545" y="4614848"/>
              <a:ext cx="462388" cy="403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obj1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950537" y="4625812"/>
              <a:ext cx="462388" cy="403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obj2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457200" y="3084792"/>
            <a:ext cx="52578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obj1=box()</a:t>
            </a:r>
          </a:p>
          <a:p>
            <a:r>
              <a:rPr lang="en-US" sz="3200" dirty="0"/>
              <a:t>print(</a:t>
            </a:r>
            <a:r>
              <a:rPr lang="en-US" sz="3200" dirty="0">
                <a:solidFill>
                  <a:srgbClr val="C00000"/>
                </a:solidFill>
              </a:rPr>
              <a:t>obj1.bname</a:t>
            </a:r>
            <a:r>
              <a:rPr lang="en-US" sz="3200" dirty="0"/>
              <a:t>,</a:t>
            </a:r>
            <a:r>
              <a:rPr lang="en-US" sz="3200" dirty="0">
                <a:solidFill>
                  <a:srgbClr val="C00000"/>
                </a:solidFill>
              </a:rPr>
              <a:t>obj1.bsize</a:t>
            </a:r>
            <a:r>
              <a:rPr lang="en-US" sz="3200" dirty="0"/>
              <a:t>)</a:t>
            </a:r>
          </a:p>
          <a:p>
            <a:endParaRPr lang="en-US" sz="3200" b="1" dirty="0">
              <a:solidFill>
                <a:srgbClr val="0070C0"/>
              </a:solidFill>
            </a:endParaRPr>
          </a:p>
          <a:p>
            <a:r>
              <a:rPr lang="en-US" sz="3200" b="1" dirty="0">
                <a:solidFill>
                  <a:srgbClr val="0070C0"/>
                </a:solidFill>
              </a:rPr>
              <a:t>obj2=box()</a:t>
            </a:r>
          </a:p>
          <a:p>
            <a:r>
              <a:rPr lang="en-US" sz="3200" dirty="0"/>
              <a:t>print(</a:t>
            </a:r>
            <a:r>
              <a:rPr lang="en-US" sz="3200" b="1" dirty="0">
                <a:solidFill>
                  <a:srgbClr val="0070C0"/>
                </a:solidFill>
              </a:rPr>
              <a:t>obj2.bname</a:t>
            </a:r>
            <a:r>
              <a:rPr lang="en-US" sz="3200" b="1" dirty="0"/>
              <a:t>,</a:t>
            </a:r>
            <a:r>
              <a:rPr lang="en-US" sz="3200" b="1" dirty="0">
                <a:solidFill>
                  <a:srgbClr val="0070C0"/>
                </a:solidFill>
              </a:rPr>
              <a:t>obj2.bsize</a:t>
            </a:r>
            <a:r>
              <a:rPr lang="en-US" sz="3200" dirty="0"/>
              <a:t>)</a:t>
            </a:r>
          </a:p>
        </p:txBody>
      </p:sp>
      <p:pic>
        <p:nvPicPr>
          <p:cNvPr id="1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551007" cy="615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3252329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277" y="533400"/>
            <a:ext cx="8229600" cy="4525963"/>
          </a:xfrm>
        </p:spPr>
        <p:txBody>
          <a:bodyPr>
            <a:normAutofit/>
          </a:bodyPr>
          <a:lstStyle/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class box: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bname='Box-1'</a:t>
            </a:r>
          </a:p>
          <a:p>
            <a:pPr marL="40005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</a:t>
            </a:r>
            <a:endParaRPr lang="en-US" dirty="0"/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5867400" y="293471"/>
            <a:ext cx="3276600" cy="4572000"/>
            <a:chOff x="5486399" y="457200"/>
            <a:chExt cx="3390902" cy="4572000"/>
          </a:xfrm>
        </p:grpSpPr>
        <p:sp>
          <p:nvSpPr>
            <p:cNvPr id="5" name="Rectangle 4"/>
            <p:cNvSpPr/>
            <p:nvPr/>
          </p:nvSpPr>
          <p:spPr>
            <a:xfrm>
              <a:off x="6239933" y="457200"/>
              <a:ext cx="2492457" cy="133162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class box:</a:t>
              </a:r>
            </a:p>
            <a:p>
              <a:r>
                <a:rPr 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        bname=“Box-1”</a:t>
              </a:r>
            </a:p>
            <a:p>
              <a:r>
                <a:rPr 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       </a:t>
              </a:r>
              <a:endParaRPr lang="en-US" dirty="0"/>
            </a:p>
          </p:txBody>
        </p:sp>
        <p:cxnSp>
          <p:nvCxnSpPr>
            <p:cNvPr id="6" name="Straight Connector 5"/>
            <p:cNvCxnSpPr/>
            <p:nvPr/>
          </p:nvCxnSpPr>
          <p:spPr>
            <a:xfrm flipH="1">
              <a:off x="6124005" y="1788821"/>
              <a:ext cx="927426" cy="1581300"/>
            </a:xfrm>
            <a:prstGeom prst="line">
              <a:avLst/>
            </a:prstGeom>
            <a:ln w="22225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7051431" y="1788821"/>
              <a:ext cx="1043354" cy="174775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5486399" y="3385823"/>
              <a:ext cx="1752601" cy="1229024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class box: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   bname=“Box-A”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   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15201" y="3370121"/>
              <a:ext cx="1562100" cy="124472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class box: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400" dirty="0">
                  <a:solidFill>
                    <a:schemeClr val="tx1"/>
                  </a:solidFill>
                </a:rPr>
                <a:t>bname=“Box-B”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77545" y="4614848"/>
              <a:ext cx="462388" cy="403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obj1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950537" y="4625812"/>
              <a:ext cx="462388" cy="403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obj2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423930" y="1828800"/>
            <a:ext cx="525780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obj1=box()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obj2=box()</a:t>
            </a:r>
          </a:p>
          <a:p>
            <a:endParaRPr lang="en-US" sz="2400" b="1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C00000"/>
                </a:solidFill>
              </a:rPr>
              <a:t>obj1.bname=“Box-A”</a:t>
            </a:r>
          </a:p>
          <a:p>
            <a:r>
              <a:rPr lang="en-US" sz="3200" b="1" dirty="0">
                <a:solidFill>
                  <a:srgbClr val="0070C0"/>
                </a:solidFill>
              </a:rPr>
              <a:t>obj2.bname=“Box-B”</a:t>
            </a:r>
          </a:p>
          <a:p>
            <a:endParaRPr lang="en-US" sz="2400" b="1" dirty="0"/>
          </a:p>
          <a:p>
            <a:r>
              <a:rPr lang="en-US" sz="2400" b="1" dirty="0"/>
              <a:t>print (</a:t>
            </a:r>
            <a:r>
              <a:rPr lang="en-US" sz="2400" b="1" dirty="0">
                <a:solidFill>
                  <a:srgbClr val="C00000"/>
                </a:solidFill>
              </a:rPr>
              <a:t>obj1.bname</a:t>
            </a:r>
            <a:r>
              <a:rPr lang="en-US" sz="2400" b="1" dirty="0"/>
              <a:t>, </a:t>
            </a:r>
            <a:r>
              <a:rPr lang="en-US" sz="2400" b="1" dirty="0">
                <a:solidFill>
                  <a:srgbClr val="0070C0"/>
                </a:solidFill>
              </a:rPr>
              <a:t>obj2.bname</a:t>
            </a:r>
            <a:r>
              <a:rPr lang="en-US" sz="2400" b="1" dirty="0"/>
              <a:t>)</a:t>
            </a:r>
            <a:endParaRPr lang="en-US" sz="3200" b="1" dirty="0"/>
          </a:p>
        </p:txBody>
      </p:sp>
      <p:pic>
        <p:nvPicPr>
          <p:cNvPr id="1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0990767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Predict the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800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class server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sname="default-Sever"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obj1=server()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obj1.sname="Unix"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obj2=server()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obj2.sname="Linux"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print(obj1.sname,obj2.sname)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#(A)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295400"/>
            <a:ext cx="4572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obj1.sname=“</a:t>
            </a:r>
            <a:r>
              <a:rPr lang="en-US" sz="2400" i="1" dirty="0" err="1">
                <a:latin typeface="Times New Roman" pitchFamily="18" charset="0"/>
                <a:cs typeface="Times New Roman" pitchFamily="18" charset="0"/>
              </a:rPr>
              <a:t>sunos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0" indent="0">
              <a:buNone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obj2.sname=“</a:t>
            </a:r>
            <a:r>
              <a:rPr lang="en-US" sz="2400" i="1" dirty="0" err="1">
                <a:latin typeface="Times New Roman" pitchFamily="18" charset="0"/>
                <a:cs typeface="Times New Roman" pitchFamily="18" charset="0"/>
              </a:rPr>
              <a:t>aix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0" indent="0">
              <a:buNone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print(obj1.sname,obj2.sname)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#(B)</a:t>
            </a:r>
          </a:p>
          <a:p>
            <a:pPr marL="0" indent="0">
              <a:buNone/>
            </a:pPr>
            <a:endParaRPr lang="en-US" sz="2400" i="1" dirty="0"/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4636922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Write a python program 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1: Create a new file – p33.py by modifying p32.py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2: Dynamically create multiple objects and initialize them with values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3:  Display each employee details (each object)</a:t>
            </a: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2656690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428541" y="30480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Lesson - 14</a:t>
            </a:r>
          </a:p>
        </p:txBody>
      </p:sp>
      <p:pic>
        <p:nvPicPr>
          <p:cNvPr id="3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3481995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909034" y="5029200"/>
            <a:ext cx="3048000" cy="838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036" y="2667000"/>
            <a:ext cx="3394364" cy="9906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36" y="762000"/>
            <a:ext cx="8229600" cy="4525963"/>
          </a:xfrm>
        </p:spPr>
        <p:txBody>
          <a:bodyPr>
            <a:noAutofit/>
          </a:bodyPr>
          <a:lstStyle/>
          <a:p>
            <a:pPr fontAlgn="base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Methods are functions defined inside the body of a class.</a:t>
            </a:r>
          </a:p>
          <a:p>
            <a:pPr fontAlgn="base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They are used to define the behaviors of an object.</a:t>
            </a:r>
          </a:p>
          <a:p>
            <a:pPr marL="0" indent="0" fontAlgn="base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fontAlgn="base">
              <a:buNone/>
            </a:pP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f1()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fontAlgn="base"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print("Hello")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print(type(f1))  =&gt; &lt;class ‘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’&gt;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f1()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print("Hello")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print(type(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obj.f1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))   =&gt; &lt;class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'method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'&gt; </a:t>
            </a:r>
          </a:p>
          <a:p>
            <a:pPr marL="0" indent="0">
              <a:buNone/>
            </a:pP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73" y="42477"/>
            <a:ext cx="422563" cy="472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6" name="Group 25"/>
          <p:cNvGrpSpPr/>
          <p:nvPr/>
        </p:nvGrpSpPr>
        <p:grpSpPr>
          <a:xfrm>
            <a:off x="3962400" y="3167666"/>
            <a:ext cx="1905000" cy="2324100"/>
            <a:chOff x="3962400" y="3167666"/>
            <a:chExt cx="1905000" cy="23241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3962400" y="3167666"/>
              <a:ext cx="1905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3962400" y="5486400"/>
              <a:ext cx="1905000" cy="5366"/>
            </a:xfrm>
            <a:prstGeom prst="line">
              <a:avLst/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867400" y="3167666"/>
              <a:ext cx="0" cy="2324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72034832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5242" y="867177"/>
            <a:ext cx="7772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():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print("Hello")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(10)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TypeError: 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() takes 0 positional arguments but 1 was given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55242" y="3124200"/>
            <a:ext cx="876300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class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():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print("Hello")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obj.fx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() 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 TypeError: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() takes 0 positional arguments but 1 was given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92539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TypeError</a:t>
            </a:r>
          </a:p>
        </p:txBody>
      </p:sp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27819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method1(self):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   print(“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MethodCall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obj1=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obj2=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obj3=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obj1.method1()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# method1(obj1)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obj2.method1()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# method1(obj2)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obj3.method1()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# method1(obj3)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351703" cy="393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8285484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477137" cy="533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33400" y="152400"/>
            <a:ext cx="7924800" cy="3962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838200" y="1219200"/>
            <a:ext cx="5486400" cy="1447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838200" y="2819400"/>
            <a:ext cx="65532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762000"/>
            <a:ext cx="3810000" cy="381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745163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class box: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bname="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defaultName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8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f1(self,a1):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8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self.bname</a:t>
            </a: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=a1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print("This is initialized block")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8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f2(self):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print("Box Name:{}".format(</a:t>
            </a:r>
            <a:r>
              <a:rPr lang="en-US" sz="28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self.bname</a:t>
            </a:r>
            <a:r>
              <a:rPr lang="en-US" sz="2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))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obj1=box()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obj1.f1("Box-1")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obj1.f2()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obj2=box()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obj2.f1("Box-2")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obj2.f2()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55072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1: create a new file p34.py by modifying p33.py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2:  Create a 3 methods: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getdata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() – To initialize employee details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display() – To display employee details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update() – To update employee working department 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477137" cy="533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7465426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Class attribute  - starts with double underscore__  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class One: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fname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=“p1.log”          # public variable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__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passwd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=“welcome”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# user defined private variable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=One()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obj.fname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=&gt; p1.log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.__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passwd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=&gt; Attribute Error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One.__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passwd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=&gt; Attribute Error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477137" cy="533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0972251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access private member?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Class attribute  - starts with double underscore__   </a:t>
            </a:r>
          </a:p>
          <a:p>
            <a:pPr marL="0" indent="0">
              <a:buNone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class One:</a:t>
            </a:r>
          </a:p>
          <a:p>
            <a:pPr marL="0" indent="0">
              <a:buNone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fname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=“p1.log”          # public variable</a:t>
            </a:r>
          </a:p>
          <a:p>
            <a:pPr marL="0" indent="0">
              <a:buNone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     __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passwd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=“welcome”  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# user defined private variable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f1(self):</a:t>
            </a: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                 print(“file name:{}”.format(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self.fname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))</a:t>
            </a: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                 print(“Password:{}”.format(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self.__</a:t>
            </a:r>
            <a:r>
              <a:rPr lang="en-US" sz="2600" b="1" dirty="0" err="1">
                <a:latin typeface="Times New Roman" pitchFamily="18" charset="0"/>
                <a:cs typeface="Times New Roman" pitchFamily="18" charset="0"/>
              </a:rPr>
              <a:t>passwd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))</a:t>
            </a:r>
          </a:p>
          <a:p>
            <a:pPr marL="0" indent="0"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=One()</a:t>
            </a:r>
          </a:p>
          <a:p>
            <a:pPr marL="0" indent="0">
              <a:buNone/>
            </a:pPr>
            <a:r>
              <a:rPr lang="en-US" dirty="0"/>
              <a:t>obj.f1()</a:t>
            </a:r>
          </a:p>
        </p:txBody>
      </p:sp>
    </p:spTree>
    <p:extLst>
      <p:ext uri="{BB962C8B-B14F-4D97-AF65-F5344CB8AC3E}">
        <p14:creationId xmlns:p14="http://schemas.microsoft.com/office/powerpoint/2010/main" val="2372989403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Write a python program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1: create a new file p35.py by modifying p34.py file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Step 2: replace the existing class attribute as private variables 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477137" cy="533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9804168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28541" y="30480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Lesson - 15</a:t>
            </a:r>
          </a:p>
        </p:txBody>
      </p:sp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1"/>
            <a:ext cx="477137" cy="533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1222276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194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CASE STUDIES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2512406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3200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pic>
        <p:nvPicPr>
          <p:cNvPr id="3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3" y="-2"/>
            <a:ext cx="703407" cy="78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3418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5773</TotalTime>
  <Words>14186</Words>
  <Application>Microsoft Office PowerPoint</Application>
  <PresentationFormat>On-screen Show (4:3)</PresentationFormat>
  <Paragraphs>2397</Paragraphs>
  <Slides>262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262</vt:i4>
      </vt:variant>
    </vt:vector>
  </HeadingPairs>
  <TitlesOfParts>
    <vt:vector size="268" baseType="lpstr">
      <vt:lpstr>Arial</vt:lpstr>
      <vt:lpstr>Calibri</vt:lpstr>
      <vt:lpstr>Times New Roman</vt:lpstr>
      <vt:lpstr>Wingdings</vt:lpstr>
      <vt:lpstr>Office Theme</vt:lpstr>
      <vt:lpstr>Custom Design</vt:lpstr>
      <vt:lpstr>Python Programming</vt:lpstr>
      <vt:lpstr>Python </vt:lpstr>
      <vt:lpstr>Python </vt:lpstr>
      <vt:lpstr>Lesson - 1</vt:lpstr>
      <vt:lpstr>Introduction about Python</vt:lpstr>
      <vt:lpstr>Introduction about Python</vt:lpstr>
      <vt:lpstr>Introduction about Python</vt:lpstr>
      <vt:lpstr>Why python ?</vt:lpstr>
      <vt:lpstr>How to install python ?</vt:lpstr>
      <vt:lpstr>PowerPoint Presentation</vt:lpstr>
      <vt:lpstr>PowerPoint Presentation</vt:lpstr>
      <vt:lpstr>PowerPoint Presentation</vt:lpstr>
      <vt:lpstr>PowerPoint Presentation</vt:lpstr>
      <vt:lpstr>Test your python version</vt:lpstr>
      <vt:lpstr>Linux</vt:lpstr>
      <vt:lpstr>Test your python – in Linux</vt:lpstr>
      <vt:lpstr>  How to run python program?  </vt:lpstr>
      <vt:lpstr>Understanding the python program execution.</vt:lpstr>
      <vt:lpstr>Python comments</vt:lpstr>
      <vt:lpstr>print(); type();dir()</vt:lpstr>
      <vt:lpstr>Quiz</vt:lpstr>
      <vt:lpstr>Quiz</vt:lpstr>
      <vt:lpstr>Quiz</vt:lpstr>
      <vt:lpstr>Lesson - 2</vt:lpstr>
      <vt:lpstr>Data types in Python</vt:lpstr>
      <vt:lpstr>Variable</vt:lpstr>
      <vt:lpstr>Activity</vt:lpstr>
      <vt:lpstr>Activity</vt:lpstr>
      <vt:lpstr>String(str)</vt:lpstr>
      <vt:lpstr>String(str)</vt:lpstr>
      <vt:lpstr>String(str)</vt:lpstr>
      <vt:lpstr>String(str)</vt:lpstr>
      <vt:lpstr>String(str)</vt:lpstr>
      <vt:lpstr>String(str)</vt:lpstr>
      <vt:lpstr>String(str)</vt:lpstr>
      <vt:lpstr>String(str)</vt:lpstr>
      <vt:lpstr>Activity</vt:lpstr>
      <vt:lpstr>Activity</vt:lpstr>
      <vt:lpstr>typecasting</vt:lpstr>
      <vt:lpstr>typecasting</vt:lpstr>
      <vt:lpstr>Activity</vt:lpstr>
      <vt:lpstr>Basic I/O operation</vt:lpstr>
      <vt:lpstr> input() </vt:lpstr>
      <vt:lpstr>  input()  </vt:lpstr>
      <vt:lpstr>  print()  </vt:lpstr>
      <vt:lpstr>Example 1</vt:lpstr>
      <vt:lpstr>Example 2</vt:lpstr>
      <vt:lpstr>Prompting for numeric input</vt:lpstr>
      <vt:lpstr>Prompting for numeric input</vt:lpstr>
      <vt:lpstr>Activity</vt:lpstr>
      <vt:lpstr>Activity</vt:lpstr>
      <vt:lpstr>Lesson - 3</vt:lpstr>
      <vt:lpstr>Operators</vt:lpstr>
      <vt:lpstr>Operators</vt:lpstr>
      <vt:lpstr>+= but not ++</vt:lpstr>
      <vt:lpstr>Activity</vt:lpstr>
      <vt:lpstr>String operators</vt:lpstr>
      <vt:lpstr>Examples</vt:lpstr>
      <vt:lpstr>Activity</vt:lpstr>
      <vt:lpstr>Logical operators</vt:lpstr>
      <vt:lpstr>Logical operators</vt:lpstr>
      <vt:lpstr>Membership operators</vt:lpstr>
      <vt:lpstr>Identity operators</vt:lpstr>
      <vt:lpstr>Activity</vt:lpstr>
      <vt:lpstr>Python Conditional Statement</vt:lpstr>
      <vt:lpstr>Python Conditional Statement</vt:lpstr>
      <vt:lpstr>Python Conditional Statement</vt:lpstr>
      <vt:lpstr>Python Conditional Statement</vt:lpstr>
      <vt:lpstr>Python Conditional Statement</vt:lpstr>
      <vt:lpstr>if ..else statement</vt:lpstr>
      <vt:lpstr>if ..elif statement</vt:lpstr>
      <vt:lpstr>if ..elif statement</vt:lpstr>
      <vt:lpstr>if ..elif statement</vt:lpstr>
      <vt:lpstr>if ..elif statement</vt:lpstr>
      <vt:lpstr>if ..elif statement</vt:lpstr>
      <vt:lpstr>Activity</vt:lpstr>
      <vt:lpstr>Activity</vt:lpstr>
      <vt:lpstr>Activity</vt:lpstr>
      <vt:lpstr>Python Looping statements</vt:lpstr>
      <vt:lpstr>Python Looping statements</vt:lpstr>
      <vt:lpstr>Python Looping statements</vt:lpstr>
      <vt:lpstr>Python Looping statements</vt:lpstr>
      <vt:lpstr>Python Looping statements</vt:lpstr>
      <vt:lpstr>Python Looping statements</vt:lpstr>
      <vt:lpstr>Python Looping statements</vt:lpstr>
      <vt:lpstr>Python Looping statements</vt:lpstr>
      <vt:lpstr>break ; continue</vt:lpstr>
      <vt:lpstr>Activity</vt:lpstr>
      <vt:lpstr>Activity</vt:lpstr>
      <vt:lpstr>Activity</vt:lpstr>
      <vt:lpstr>Lesson - 5</vt:lpstr>
      <vt:lpstr>Python - Collections</vt:lpstr>
      <vt:lpstr>List</vt:lpstr>
      <vt:lpstr>List</vt:lpstr>
      <vt:lpstr>List - Examples</vt:lpstr>
      <vt:lpstr>Example</vt:lpstr>
      <vt:lpstr>List – Index and Slicing</vt:lpstr>
      <vt:lpstr>Membership operators</vt:lpstr>
      <vt:lpstr>List methods</vt:lpstr>
      <vt:lpstr>Example</vt:lpstr>
      <vt:lpstr>List methods</vt:lpstr>
      <vt:lpstr>Activity</vt:lpstr>
      <vt:lpstr>Activity</vt:lpstr>
      <vt:lpstr>Activity</vt:lpstr>
      <vt:lpstr>Tuple</vt:lpstr>
      <vt:lpstr>Tuple</vt:lpstr>
      <vt:lpstr> Tuple</vt:lpstr>
      <vt:lpstr> Iterating Through a list/tuple</vt:lpstr>
      <vt:lpstr>Tuple operations</vt:lpstr>
      <vt:lpstr>  Deleting a Tuple  </vt:lpstr>
      <vt:lpstr>Tuple usages in python</vt:lpstr>
      <vt:lpstr>Activity</vt:lpstr>
      <vt:lpstr>Activity</vt:lpstr>
      <vt:lpstr>Activity</vt:lpstr>
      <vt:lpstr>Lesson - 6</vt:lpstr>
      <vt:lpstr>Dictionary </vt:lpstr>
      <vt:lpstr>  dict- operations </vt:lpstr>
      <vt:lpstr>Activity</vt:lpstr>
      <vt:lpstr>  dict- methods </vt:lpstr>
      <vt:lpstr>Activity</vt:lpstr>
      <vt:lpstr>  Dictionary Membership Test  </vt:lpstr>
      <vt:lpstr>Activity</vt:lpstr>
      <vt:lpstr>  Iterating Through a Dictionary  </vt:lpstr>
      <vt:lpstr>Activity</vt:lpstr>
      <vt:lpstr>  set  </vt:lpstr>
      <vt:lpstr>How to create a set? </vt:lpstr>
      <vt:lpstr>Empty set</vt:lpstr>
      <vt:lpstr>PowerPoint Presentation</vt:lpstr>
      <vt:lpstr>PowerPoint Presentation</vt:lpstr>
      <vt:lpstr>How to change a set in Python? </vt:lpstr>
      <vt:lpstr>add() vs update()</vt:lpstr>
      <vt:lpstr>How to remove elements from a set? </vt:lpstr>
      <vt:lpstr>remove() vs discard()</vt:lpstr>
      <vt:lpstr>  Python Set Operations  </vt:lpstr>
      <vt:lpstr>Set Union </vt:lpstr>
      <vt:lpstr>  Set Intersection  </vt:lpstr>
      <vt:lpstr>Activity</vt:lpstr>
      <vt:lpstr>  Set Difference  </vt:lpstr>
      <vt:lpstr>set difference</vt:lpstr>
      <vt:lpstr>Set Symmetric Difference </vt:lpstr>
      <vt:lpstr>PowerPoint Presentation</vt:lpstr>
      <vt:lpstr>Activity</vt:lpstr>
      <vt:lpstr>Lesson - 7</vt:lpstr>
      <vt:lpstr>File Handling</vt:lpstr>
      <vt:lpstr>File categories</vt:lpstr>
      <vt:lpstr>File – read operation</vt:lpstr>
      <vt:lpstr>File – create/write operation</vt:lpstr>
      <vt:lpstr>File – read/write operation</vt:lpstr>
      <vt:lpstr>Activity</vt:lpstr>
      <vt:lpstr>Activity</vt:lpstr>
      <vt:lpstr>Activity</vt:lpstr>
      <vt:lpstr>with statement in python</vt:lpstr>
      <vt:lpstr>Examples</vt:lpstr>
      <vt:lpstr>Activity</vt:lpstr>
      <vt:lpstr>Activity</vt:lpstr>
      <vt:lpstr>Activity</vt:lpstr>
      <vt:lpstr>PowerPoint Presentation</vt:lpstr>
      <vt:lpstr>What is a function in Python?</vt:lpstr>
      <vt:lpstr>  Syntax of Function  </vt:lpstr>
      <vt:lpstr>How to call a function in python? </vt:lpstr>
      <vt:lpstr>Example</vt:lpstr>
      <vt:lpstr>PowerPoint Presentation</vt:lpstr>
      <vt:lpstr>PowerPoint Presentation</vt:lpstr>
      <vt:lpstr>PowerPoint Presentation</vt:lpstr>
      <vt:lpstr>Function call with arguments</vt:lpstr>
      <vt:lpstr>Function call with arguments</vt:lpstr>
      <vt:lpstr>Function call with arguments</vt:lpstr>
      <vt:lpstr>Function call with arguments</vt:lpstr>
      <vt:lpstr>Function call with arguments</vt:lpstr>
      <vt:lpstr>Function call with arguments</vt:lpstr>
      <vt:lpstr>PowerPoint Presentation</vt:lpstr>
      <vt:lpstr>Function call with arguments</vt:lpstr>
      <vt:lpstr>PowerPoint Presentation</vt:lpstr>
      <vt:lpstr>PowerPoint Presentation</vt:lpstr>
      <vt:lpstr>Function call with arguments </vt:lpstr>
      <vt:lpstr>Function call with arguments </vt:lpstr>
      <vt:lpstr>PowerPoint Presentation</vt:lpstr>
      <vt:lpstr>PowerPoint Presentation</vt:lpstr>
      <vt:lpstr>Scope </vt:lpstr>
      <vt:lpstr>global</vt:lpstr>
      <vt:lpstr> Rules of global keyword </vt:lpstr>
      <vt:lpstr>return</vt:lpstr>
      <vt:lpstr>python supports all types of return values</vt:lpstr>
      <vt:lpstr>Returning Multiple Values </vt:lpstr>
      <vt:lpstr>PowerPoint Presentation</vt:lpstr>
      <vt:lpstr>Activity - identify the errors </vt:lpstr>
      <vt:lpstr>Activity</vt:lpstr>
      <vt:lpstr>Lesson - 9</vt:lpstr>
      <vt:lpstr>Python Modules</vt:lpstr>
      <vt:lpstr>Module basics</vt:lpstr>
      <vt:lpstr>PowerPoint Presentation</vt:lpstr>
      <vt:lpstr>What import does</vt:lpstr>
      <vt:lpstr>Activity</vt:lpstr>
      <vt:lpstr>Python standard library</vt:lpstr>
      <vt:lpstr>Activity</vt:lpstr>
      <vt:lpstr>Activity</vt:lpstr>
      <vt:lpstr>Python standard library</vt:lpstr>
      <vt:lpstr>import vs from ... import</vt:lpstr>
      <vt:lpstr>Module Packages</vt:lpstr>
      <vt:lpstr>Python pip</vt:lpstr>
      <vt:lpstr>What is Pip? </vt:lpstr>
      <vt:lpstr>How to install &lt;module&gt; in winx?</vt:lpstr>
      <vt:lpstr>Install Pip on MacOS </vt:lpstr>
      <vt:lpstr>get-pip.py</vt:lpstr>
      <vt:lpstr>Install Pip in Ubuntu </vt:lpstr>
      <vt:lpstr>Install Pip in CentOS </vt:lpstr>
      <vt:lpstr> To list all modules </vt:lpstr>
      <vt:lpstr>Lesson - 10</vt:lpstr>
      <vt:lpstr> Python Errors &amp; Exceptions </vt:lpstr>
      <vt:lpstr>Python Logical Errors (Exceptions)</vt:lpstr>
      <vt:lpstr>Exceptions in Python </vt:lpstr>
      <vt:lpstr>Exception block</vt:lpstr>
      <vt:lpstr>Example</vt:lpstr>
      <vt:lpstr>Raising Exceptions in Python </vt:lpstr>
      <vt:lpstr>Activity</vt:lpstr>
      <vt:lpstr>PowerPoint Presentation</vt:lpstr>
      <vt:lpstr>Functional Style programming </vt:lpstr>
      <vt:lpstr>Functional Vs OOPs</vt:lpstr>
      <vt:lpstr>  List comprehension   </vt:lpstr>
      <vt:lpstr>List comprehension with conditional statements</vt:lpstr>
      <vt:lpstr>List comprehension with string methods</vt:lpstr>
      <vt:lpstr>Activity</vt:lpstr>
      <vt:lpstr>Defining an Anonymous Function With lambda  </vt:lpstr>
      <vt:lpstr>lambda </vt:lpstr>
      <vt:lpstr>lambda expression</vt:lpstr>
      <vt:lpstr>Lambda exp and function call</vt:lpstr>
      <vt:lpstr>Activity</vt:lpstr>
      <vt:lpstr>Lesson - 12</vt:lpstr>
      <vt:lpstr>functionaltools</vt:lpstr>
      <vt:lpstr>map()</vt:lpstr>
      <vt:lpstr>Activity</vt:lpstr>
      <vt:lpstr>map</vt:lpstr>
      <vt:lpstr>Activity</vt:lpstr>
      <vt:lpstr>filter</vt:lpstr>
      <vt:lpstr>Filter- examples</vt:lpstr>
      <vt:lpstr>Activity</vt:lpstr>
      <vt:lpstr>reduce</vt:lpstr>
      <vt:lpstr>Activity</vt:lpstr>
      <vt:lpstr>Lesson - 13</vt:lpstr>
      <vt:lpstr>Introduction about python OOPs </vt:lpstr>
      <vt:lpstr>class</vt:lpstr>
      <vt:lpstr>Class - Examples</vt:lpstr>
      <vt:lpstr>NameError vs AttributeError</vt:lpstr>
      <vt:lpstr>Activity</vt:lpstr>
      <vt:lpstr>  Object  </vt:lpstr>
      <vt:lpstr>PowerPoint Presentation</vt:lpstr>
      <vt:lpstr>PowerPoint Presentation</vt:lpstr>
      <vt:lpstr>PowerPoint Presentation</vt:lpstr>
      <vt:lpstr>Predict the output</vt:lpstr>
      <vt:lpstr>Activity</vt:lpstr>
      <vt:lpstr>Lesson - 14</vt:lpstr>
      <vt:lpstr>Methods</vt:lpstr>
      <vt:lpstr>TypeError</vt:lpstr>
      <vt:lpstr>PowerPoint Presentation</vt:lpstr>
      <vt:lpstr>PowerPoint Presentation</vt:lpstr>
      <vt:lpstr>Activity</vt:lpstr>
      <vt:lpstr>Private member</vt:lpstr>
      <vt:lpstr>How to access private member?</vt:lpstr>
      <vt:lpstr>Activity</vt:lpstr>
      <vt:lpstr>Lesson - 15</vt:lpstr>
      <vt:lpstr>CASE STUDIES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Lenovo</cp:lastModifiedBy>
  <cp:revision>273</cp:revision>
  <dcterms:created xsi:type="dcterms:W3CDTF">2019-10-08T17:17:06Z</dcterms:created>
  <dcterms:modified xsi:type="dcterms:W3CDTF">2025-07-09T10:40:55Z</dcterms:modified>
</cp:coreProperties>
</file>